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Plant 1</c:v>
                </c:pt>
              </c:strCache>
            </c:strRef>
          </c:tx>
          <c:spPr>
            <a:solidFill>
              <a:srgbClr val="0D7C8F"/>
            </a:solidFill>
            <a:effectLst/>
          </c:spPr>
          <c:invertIfNegative val="0"/>
          <c:dLbls>
            <c:numFmt formatCode="0.00" sourceLinked="0"/>
            <c:txPr>
              <a:bodyPr/>
              <a:lstStyle/>
              <a:p>
                <a:pPr>
                  <a:defRPr b="0" i="0" strike="noStrike" sz="900" u="none">
                    <a:solidFill>
                      <a:srgbClr val="1E2D3D"/>
                    </a:solidFill>
                    <a:latin typeface="Arial"/>
                  </a:defRPr>
                </a:pPr>
              </a:p>
            </c:txPr>
            <c:showLegendKey val="0"/>
            <c:showVal val="1"/>
            <c:showCatName val="0"/>
            <c:showSerName val="0"/>
            <c:showPercent val="0"/>
            <c:showBubbleSize val="0"/>
            <c:showLeaderLines val="0"/>
          </c:dLbls>
          <c:cat>
            <c:multiLvlStrRef>
              <c:f>Sheet1!$A$2:$A$5</c:f>
              <c:multiLvlStrCache>
                <c:ptCount val="4"/>
                <c:lvl>
                  <c:pt idx="0">
                    <c:v>Linear
Regression</c:v>
                  </c:pt>
                  <c:pt idx="1">
                    <c:v>Ridge
Regression</c:v>
                  </c:pt>
                  <c:pt idx="2">
                    <c:v>Gradient
Boosting</c:v>
                  </c:pt>
                  <c:pt idx="3">
                    <c:v>Random
Forest</c:v>
                  </c:pt>
                </c:lvl>
              </c:multiLvlStrCache>
            </c:multiLvlStrRef>
          </c:cat>
          <c:val>
            <c:numRef>
              <c:f>Sheet1!$B$2:$B$5</c:f>
              <c:numCache>
                <c:formatCode>General</c:formatCode>
                <c:ptCount val="4"/>
                <c:pt idx="0">
                  <c:v>0.7</c:v>
                </c:pt>
                <c:pt idx="1">
                  <c:v>0.7</c:v>
                </c:pt>
                <c:pt idx="2">
                  <c:v>0.78</c:v>
                </c:pt>
                <c:pt idx="3">
                  <c:v>0.81</c:v>
                </c:pt>
              </c:numCache>
            </c:numRef>
          </c:val>
        </c:ser>
        <c:ser>
          <c:idx val="1"/>
          <c:order val="1"/>
          <c:tx>
            <c:strRef>
              <c:f>Sheet1!$C$1</c:f>
              <c:strCache>
                <c:ptCount val="1"/>
                <c:pt idx="0">
                  <c:v>Plant 2</c:v>
                </c:pt>
              </c:strCache>
            </c:strRef>
          </c:tx>
          <c:spPr>
            <a:solidFill>
              <a:srgbClr val="F4A726"/>
            </a:solidFill>
            <a:effectLst/>
          </c:spPr>
          <c:invertIfNegative val="0"/>
          <c:dLbls>
            <c:numFmt formatCode="0.00" sourceLinked="0"/>
            <c:txPr>
              <a:bodyPr/>
              <a:lstStyle/>
              <a:p>
                <a:pPr>
                  <a:defRPr b="0" i="0" strike="noStrike" sz="900" u="none">
                    <a:solidFill>
                      <a:srgbClr val="1E2D3D"/>
                    </a:solidFill>
                    <a:latin typeface="Arial"/>
                  </a:defRPr>
                </a:pPr>
              </a:p>
            </c:txPr>
            <c:showLegendKey val="0"/>
            <c:showVal val="1"/>
            <c:showCatName val="0"/>
            <c:showSerName val="0"/>
            <c:showPercent val="0"/>
            <c:showBubbleSize val="0"/>
            <c:showLeaderLines val="0"/>
          </c:dLbls>
          <c:cat>
            <c:multiLvlStrRef>
              <c:f>Sheet1!$A$2:$A$5</c:f>
              <c:multiLvlStrCache>
                <c:ptCount val="4"/>
                <c:lvl>
                  <c:pt idx="0">
                    <c:v>Linear
Regression</c:v>
                  </c:pt>
                  <c:pt idx="1">
                    <c:v>Ridge
Regression</c:v>
                  </c:pt>
                  <c:pt idx="2">
                    <c:v>Gradient
Boosting</c:v>
                  </c:pt>
                  <c:pt idx="3">
                    <c:v>Random
Forest</c:v>
                  </c:pt>
                </c:lvl>
              </c:multiLvlStrCache>
            </c:multiLvlStrRef>
          </c:cat>
          <c:val>
            <c:numRef>
              <c:f>Sheet1!$C$2:$C$5</c:f>
              <c:numCache>
                <c:formatCode>General</c:formatCode>
                <c:ptCount val="4"/>
                <c:pt idx="0">
                  <c:v>0.52</c:v>
                </c:pt>
                <c:pt idx="1">
                  <c:v>0.52</c:v>
                </c:pt>
                <c:pt idx="2">
                  <c:v>0.65</c:v>
                </c:pt>
                <c:pt idx="3">
                  <c:v>0.66</c:v>
                </c:pt>
              </c:numCache>
            </c:numRef>
          </c:val>
        </c:ser>
        <c:dLbls>
          <c:numFmt formatCode="0.00" sourceLinked="0"/>
          <c:txPr>
            <a:bodyPr/>
            <a:lstStyle/>
            <a:p>
              <a:pPr>
                <a:defRPr b="0" i="0" strike="noStrike" sz="900" u="none">
                  <a:solidFill>
                    <a:srgbClr val="1E2D3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
        </c:scaling>
        <c:delete val="0"/>
        <c:axPos val="l"/>
        <c:majorGridlines>
          <c:spPr>
            <a:ln w="6350" cap="flat">
              <a:solidFill>
                <a:srgbClr val="DDE3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t"/>
      <c:overlay val="0"/>
    </c:legend>
    <c:plotVisOnly val="1"/>
    <c:dispBlanksAs val="span"/>
  </c:chart>
  <c:spPr>
    <a:solidFill>
      <a:srgbClr val="F5F7F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 we're [Member A, B, C, D, E, F], and our project is on solar power plant data.
We worked on two things: predicting how much power a plant generates based on weather, and automatically catching inverters that are performing worse than they should be.
Let's get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problem has two parts.
Regression: given the weather at any moment — radiation, temperature, humidity — can we predict how much power the plant is generating?
Anomaly detection: once we know what a plant should be producing, we can flag individual inverters that consistently come in below that. That's actually useful in practice — it tells you which inverters might need maintenance.
We had three datasets. Two generation datasets, one per plant, with 15-minute readings from 22 inverters each. And a weather dataset sampled every few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ran any models, we did a quick sanity check on the data — and found two pretty big issues.
The first one is in Plant 1. The DC to AC ratio was 0.098. That's physically impossible — a real inverter is 95 to 99% efficient, not 9.8%. What made it obvious it wasn't a hardware fault is that the ratio was identical to five decimal places across all 22 inverters. So it had to be a recording difference. Plant 1's DC power was logged at about 10 times the scale of the AC. We divided it out, and after that both plants showed 97.7% efficiency — completely normal.
The second bug is in Plant 2's cumulative yield. Some inverters were showing values in the billions — Plant 1 maxed out at 7.8 million. That's a data logger counter overflow: when the counter hits its limit it wraps back to zero, and the running total goes wrong. Sixteen of 22 inverters were affected. We just dropped that column and used the daily yield instead, which was fine.
Catching these before modelling mattered — if we hadn't, our cross-plant comparisons would've been completely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EDA we plotted the standard stuff — daily trends, hourly profiles, scatter plots, boxplots.
A few things stood out. Radiation is by far the strongest driver — the scatter plot is almost linear once you remove nighttime readings.
Both plants follow the exact same bell curve through the day — peaks around noon, falls off either side.
There's also real variation between inverters. Some are consistently producing less than their neighbours under the same weather. You can see it in the boxplot.
And the most useful visualisation was the inverter × date heatmap. Each cell is one inverter on one day, coloured by how well it performed relative to its own best. A full row of red means that inverter has a persistent problem. A full column means it was just a bad weather day. That distinction is really important for the anomaly detection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regression we tried four models: Linear Regression, Ridge, Gradient Boosting, and Random Forest.
Important thing to address upfront: we originally tried applying a model trained on Plant 1 directly to Plant 2, and it completely failed. Random Forest gave a negative R² on Plant 2 — which means a flat average prediction would literally beat it. The reason is that Plant 1 generates about 1.3 times more AC power than Plant 2 at the same radiation level. They have different installed panel capacity. So the P1 model always over-predicts P2 by a systematic margin.
The correct approach is to train a separate model per plant. That's what the chart shows.
Random Forest wins on both — R² of 0.81 on Plant 1 and 0.66 on Plant 2. Plant 2 scores lower because radiation explains less of its variance — correlation of 0.52 versus 0.63 for Plant 1. Probably because of the panel-level issues we already found in the anomaly detection.
We also used TimeSeriesSplit for cross-validation and RandomizedSearchCV for 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anomaly detection, we used Isolation Forest — which we learned outside the course.
The idea is straightforward: use the regression model to predict what each inverter should be generating given the weather at that point in time. Then compute the gap between actual and predicted. Aggregate that into daily metrics per inverter — mean residual, performance ratio, standard deviation. Then run Isolation Forest on those numbers to find the outliers.
About 10% of inverter-days came back flagged. Some inverters showed up as anomalous day after day — those are your hardware problems, things like soiling, shading, or degraded cells. Others only appeared on specific dates — and when you check, those same dates show all inverters dipping together, meaning it was just bad weather.
The heatmap makes this really clear. Full row of red, broken inverter. Full column of red, cloudy day. That's something a plant operator could actually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 we trained a separate Random Forest model for each plant. R² of 0.81 on Plant 1 and 0.66 on Plant 2. We verified that cross-plant transfer doesn't work — the plants have different installed capacity, so the P1 model over-predicts P2 and gives near-zero or negative R².
For anomaly detection, we ranked all 22 inverters and identified the ones worth inspecting.
And before any of that, we caught two real data quality issues — a unit mismatch in Plant 1's DC readings, and a counter overflow in Plant 2's cumulative yield. Both fixed before modelling.
For new things beyond the course: Isolation Forest, TimeSeriesSplit, RandomizedSearchCV, SHAP values, merge_asof, and the performance ratio metric from IEC 61724.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how we split up the work across the six of us.
Member A handled data loading and preprocessing — parsing the two different datetime formats, resampling the weather data to 15-minute intervals, and joining everything together.
Member B did the data quality investigation — that's where we found the unit mismatch in Plant 1 and the counter overflow in Plant 2.
Member C handled EDA — all the visualisations, heatmaps, boxplots, and correlation analysis.
Member D built the regression pipeline — the four models and the time-series cross-validation and tuning.
Member E did the SHAP analysis and feature importance, and tested the model on Plant 2.
Member F built the anomaly detection — Isolation Forest, inverter ranking, the full pipeline.
Thanks for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1.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B3B"/>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F4A726"/>
          </a:solidFill>
          <a:ln w="12700">
            <a:solidFill>
              <a:srgbClr val="F4A726"/>
            </a:solidFill>
            <a:prstDash val="solid"/>
          </a:ln>
        </p:spPr>
      </p:sp>
      <p:pic>
        <p:nvPicPr>
          <p:cNvPr id="3" name="Image 0" descr="preencoded.png">    </p:cNvPr>
          <p:cNvPicPr>
            <a:picLocks noChangeAspect="1"/>
          </p:cNvPicPr>
          <p:nvPr/>
        </p:nvPicPr>
        <p:blipFill>
          <a:blip r:embed="rId1"/>
          <a:stretch>
            <a:fillRect/>
          </a:stretch>
        </p:blipFill>
        <p:spPr>
          <a:xfrm>
            <a:off x="7315200" y="365760"/>
            <a:ext cx="1463040" cy="1463040"/>
          </a:xfrm>
          <a:prstGeom prst="rect">
            <a:avLst/>
          </a:prstGeom>
        </p:spPr>
      </p:pic>
      <p:sp>
        <p:nvSpPr>
          <p:cNvPr id="4" name="Text 1"/>
          <p:cNvSpPr/>
          <p:nvPr/>
        </p:nvSpPr>
        <p:spPr>
          <a:xfrm>
            <a:off x="457200" y="914400"/>
            <a:ext cx="6675120" cy="777240"/>
          </a:xfrm>
          <a:prstGeom prst="rect">
            <a:avLst/>
          </a:prstGeom>
          <a:noFill/>
          <a:ln/>
        </p:spPr>
        <p:txBody>
          <a:bodyPr wrap="square" lIns="0" tIns="0" rIns="0" bIns="0" rtlCol="0" anchor="ctr"/>
          <a:lstStyle/>
          <a:p>
            <a:pPr algn="l" indent="0" marL="0">
              <a:buNone/>
            </a:pPr>
            <a:r>
              <a:rPr lang="en-US" sz="4200" b="1" dirty="0">
                <a:solidFill>
                  <a:srgbClr val="FFFFFF"/>
                </a:solidFill>
                <a:latin typeface="Calibri" pitchFamily="34" charset="0"/>
                <a:ea typeface="Calibri" pitchFamily="34" charset="-122"/>
                <a:cs typeface="Calibri" pitchFamily="34" charset="-120"/>
              </a:rPr>
              <a:t>Solar Power Plant</a:t>
            </a:r>
            <a:endParaRPr lang="en-US" sz="4200" dirty="0"/>
          </a:p>
        </p:txBody>
      </p:sp>
      <p:sp>
        <p:nvSpPr>
          <p:cNvPr id="5" name="Text 2"/>
          <p:cNvSpPr/>
          <p:nvPr/>
        </p:nvSpPr>
        <p:spPr>
          <a:xfrm>
            <a:off x="457200" y="1709928"/>
            <a:ext cx="6675120" cy="438912"/>
          </a:xfrm>
          <a:prstGeom prst="rect">
            <a:avLst/>
          </a:prstGeom>
          <a:noFill/>
          <a:ln/>
        </p:spPr>
        <p:txBody>
          <a:bodyPr wrap="square" lIns="0" tIns="0" rIns="0" bIns="0" rtlCol="0" anchor="ctr"/>
          <a:lstStyle/>
          <a:p>
            <a:pPr algn="l" indent="0" marL="0">
              <a:buNone/>
            </a:pPr>
            <a:r>
              <a:rPr lang="en-US" sz="1800" dirty="0">
                <a:solidFill>
                  <a:srgbClr val="F4A726"/>
                </a:solidFill>
                <a:latin typeface="Calibri" pitchFamily="34" charset="0"/>
                <a:ea typeface="Calibri" pitchFamily="34" charset="-122"/>
                <a:cs typeface="Calibri" pitchFamily="34" charset="-120"/>
              </a:rPr>
              <a:t>Generation Forecasting &amp; Anomaly Detection</a:t>
            </a:r>
            <a:endParaRPr lang="en-US" sz="1800" dirty="0"/>
          </a:p>
        </p:txBody>
      </p:sp>
      <p:sp>
        <p:nvSpPr>
          <p:cNvPr id="6" name="Shape 3"/>
          <p:cNvSpPr/>
          <p:nvPr/>
        </p:nvSpPr>
        <p:spPr>
          <a:xfrm>
            <a:off x="457200" y="2286000"/>
            <a:ext cx="5303520" cy="32004"/>
          </a:xfrm>
          <a:prstGeom prst="rect">
            <a:avLst/>
          </a:prstGeom>
          <a:solidFill>
            <a:srgbClr val="FFFFFF">
              <a:alpha val="25000"/>
            </a:srgbClr>
          </a:solidFill>
          <a:ln w="12700">
            <a:solidFill>
              <a:srgbClr val="FFFFFF"/>
            </a:solidFill>
            <a:prstDash val="solid"/>
          </a:ln>
        </p:spPr>
      </p:sp>
      <p:sp>
        <p:nvSpPr>
          <p:cNvPr id="7" name="Text 4"/>
          <p:cNvSpPr/>
          <p:nvPr/>
        </p:nvSpPr>
        <p:spPr>
          <a:xfrm>
            <a:off x="457200" y="2423160"/>
            <a:ext cx="6400800" cy="274320"/>
          </a:xfrm>
          <a:prstGeom prst="rect">
            <a:avLst/>
          </a:prstGeom>
          <a:noFill/>
          <a:ln/>
        </p:spPr>
        <p:txBody>
          <a:bodyPr wrap="square" lIns="0" tIns="0" rIns="0" bIns="0" rtlCol="0" anchor="ctr"/>
          <a:lstStyle/>
          <a:p>
            <a:pPr algn="l" indent="0" marL="0">
              <a:buNone/>
            </a:pPr>
            <a:r>
              <a:rPr lang="en-US" sz="1150" dirty="0">
                <a:solidFill>
                  <a:srgbClr val="8AABBE"/>
                </a:solidFill>
                <a:latin typeface="Calibri" pitchFamily="34" charset="0"/>
                <a:ea typeface="Calibri" pitchFamily="34" charset="-122"/>
                <a:cs typeface="Calibri" pitchFamily="34" charset="-120"/>
              </a:rPr>
              <a:t>Data Science Mini-Project  ·  Dataset 4</a:t>
            </a:r>
            <a:endParaRPr lang="en-US" sz="1150" dirty="0"/>
          </a:p>
        </p:txBody>
      </p:sp>
      <p:sp>
        <p:nvSpPr>
          <p:cNvPr id="8" name="Shape 5"/>
          <p:cNvSpPr/>
          <p:nvPr/>
        </p:nvSpPr>
        <p:spPr>
          <a:xfrm>
            <a:off x="457200" y="2926080"/>
            <a:ext cx="2624328" cy="530352"/>
          </a:xfrm>
          <a:prstGeom prst="rect">
            <a:avLst/>
          </a:prstGeom>
          <a:solidFill>
            <a:srgbClr val="FFFFFF">
              <a:alpha val="15000"/>
            </a:srgbClr>
          </a:solidFill>
          <a:ln w="12700">
            <a:solidFill>
              <a:srgbClr val="F4A726"/>
            </a:solidFill>
            <a:prstDash val="solid"/>
          </a:ln>
        </p:spPr>
      </p:sp>
      <p:sp>
        <p:nvSpPr>
          <p:cNvPr id="9" name="Text 6"/>
          <p:cNvSpPr/>
          <p:nvPr/>
        </p:nvSpPr>
        <p:spPr>
          <a:xfrm>
            <a:off x="457200" y="2926080"/>
            <a:ext cx="2624328"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Member A</a:t>
            </a:r>
            <a:endParaRPr lang="en-US" sz="1300" dirty="0"/>
          </a:p>
        </p:txBody>
      </p:sp>
      <p:sp>
        <p:nvSpPr>
          <p:cNvPr id="10" name="Shape 7"/>
          <p:cNvSpPr/>
          <p:nvPr/>
        </p:nvSpPr>
        <p:spPr>
          <a:xfrm>
            <a:off x="3264408" y="2926080"/>
            <a:ext cx="2624328" cy="530352"/>
          </a:xfrm>
          <a:prstGeom prst="rect">
            <a:avLst/>
          </a:prstGeom>
          <a:solidFill>
            <a:srgbClr val="FFFFFF">
              <a:alpha val="15000"/>
            </a:srgbClr>
          </a:solidFill>
          <a:ln w="12700">
            <a:solidFill>
              <a:srgbClr val="F4A726"/>
            </a:solidFill>
            <a:prstDash val="solid"/>
          </a:ln>
        </p:spPr>
      </p:sp>
      <p:sp>
        <p:nvSpPr>
          <p:cNvPr id="11" name="Text 8"/>
          <p:cNvSpPr/>
          <p:nvPr/>
        </p:nvSpPr>
        <p:spPr>
          <a:xfrm>
            <a:off x="3264408" y="2926080"/>
            <a:ext cx="2624328"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Member B</a:t>
            </a:r>
            <a:endParaRPr lang="en-US" sz="1300" dirty="0"/>
          </a:p>
        </p:txBody>
      </p:sp>
      <p:sp>
        <p:nvSpPr>
          <p:cNvPr id="12" name="Shape 9"/>
          <p:cNvSpPr/>
          <p:nvPr/>
        </p:nvSpPr>
        <p:spPr>
          <a:xfrm>
            <a:off x="6071616" y="2926080"/>
            <a:ext cx="2624328" cy="530352"/>
          </a:xfrm>
          <a:prstGeom prst="rect">
            <a:avLst/>
          </a:prstGeom>
          <a:solidFill>
            <a:srgbClr val="FFFFFF">
              <a:alpha val="15000"/>
            </a:srgbClr>
          </a:solidFill>
          <a:ln w="12700">
            <a:solidFill>
              <a:srgbClr val="F4A726"/>
            </a:solidFill>
            <a:prstDash val="solid"/>
          </a:ln>
        </p:spPr>
      </p:sp>
      <p:sp>
        <p:nvSpPr>
          <p:cNvPr id="13" name="Text 10"/>
          <p:cNvSpPr/>
          <p:nvPr/>
        </p:nvSpPr>
        <p:spPr>
          <a:xfrm>
            <a:off x="6071616" y="2926080"/>
            <a:ext cx="2624328"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Member C</a:t>
            </a:r>
            <a:endParaRPr lang="en-US" sz="1300" dirty="0"/>
          </a:p>
        </p:txBody>
      </p:sp>
      <p:sp>
        <p:nvSpPr>
          <p:cNvPr id="14" name="Shape 11"/>
          <p:cNvSpPr/>
          <p:nvPr/>
        </p:nvSpPr>
        <p:spPr>
          <a:xfrm>
            <a:off x="457200" y="3584448"/>
            <a:ext cx="2624328" cy="530352"/>
          </a:xfrm>
          <a:prstGeom prst="rect">
            <a:avLst/>
          </a:prstGeom>
          <a:solidFill>
            <a:srgbClr val="FFFFFF">
              <a:alpha val="15000"/>
            </a:srgbClr>
          </a:solidFill>
          <a:ln w="12700">
            <a:solidFill>
              <a:srgbClr val="F4A726"/>
            </a:solidFill>
            <a:prstDash val="solid"/>
          </a:ln>
        </p:spPr>
      </p:sp>
      <p:sp>
        <p:nvSpPr>
          <p:cNvPr id="15" name="Text 12"/>
          <p:cNvSpPr/>
          <p:nvPr/>
        </p:nvSpPr>
        <p:spPr>
          <a:xfrm>
            <a:off x="457200" y="3584448"/>
            <a:ext cx="2624328"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Member D</a:t>
            </a:r>
            <a:endParaRPr lang="en-US" sz="1300" dirty="0"/>
          </a:p>
        </p:txBody>
      </p:sp>
      <p:sp>
        <p:nvSpPr>
          <p:cNvPr id="16" name="Shape 13"/>
          <p:cNvSpPr/>
          <p:nvPr/>
        </p:nvSpPr>
        <p:spPr>
          <a:xfrm>
            <a:off x="3264408" y="3584448"/>
            <a:ext cx="2624328" cy="530352"/>
          </a:xfrm>
          <a:prstGeom prst="rect">
            <a:avLst/>
          </a:prstGeom>
          <a:solidFill>
            <a:srgbClr val="FFFFFF">
              <a:alpha val="15000"/>
            </a:srgbClr>
          </a:solidFill>
          <a:ln w="12700">
            <a:solidFill>
              <a:srgbClr val="F4A726"/>
            </a:solidFill>
            <a:prstDash val="solid"/>
          </a:ln>
        </p:spPr>
      </p:sp>
      <p:sp>
        <p:nvSpPr>
          <p:cNvPr id="17" name="Text 14"/>
          <p:cNvSpPr/>
          <p:nvPr/>
        </p:nvSpPr>
        <p:spPr>
          <a:xfrm>
            <a:off x="3264408" y="3584448"/>
            <a:ext cx="2624328"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Member E</a:t>
            </a:r>
            <a:endParaRPr lang="en-US" sz="1300" dirty="0"/>
          </a:p>
        </p:txBody>
      </p:sp>
      <p:sp>
        <p:nvSpPr>
          <p:cNvPr id="18" name="Shape 15"/>
          <p:cNvSpPr/>
          <p:nvPr/>
        </p:nvSpPr>
        <p:spPr>
          <a:xfrm>
            <a:off x="6071616" y="3584448"/>
            <a:ext cx="2624328" cy="530352"/>
          </a:xfrm>
          <a:prstGeom prst="rect">
            <a:avLst/>
          </a:prstGeom>
          <a:solidFill>
            <a:srgbClr val="FFFFFF">
              <a:alpha val="15000"/>
            </a:srgbClr>
          </a:solidFill>
          <a:ln w="12700">
            <a:solidFill>
              <a:srgbClr val="F4A726"/>
            </a:solidFill>
            <a:prstDash val="solid"/>
          </a:ln>
        </p:spPr>
      </p:sp>
      <p:sp>
        <p:nvSpPr>
          <p:cNvPr id="19" name="Text 16"/>
          <p:cNvSpPr/>
          <p:nvPr/>
        </p:nvSpPr>
        <p:spPr>
          <a:xfrm>
            <a:off x="6071616" y="3584448"/>
            <a:ext cx="2624328"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Member F</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164592"/>
            <a:ext cx="8229600" cy="201168"/>
          </a:xfrm>
          <a:prstGeom prst="rect">
            <a:avLst/>
          </a:prstGeom>
          <a:noFill/>
          <a:ln/>
        </p:spPr>
        <p:txBody>
          <a:bodyPr wrap="square" lIns="0" tIns="0" rIns="0" bIns="0" rtlCol="0" anchor="ctr"/>
          <a:lstStyle/>
          <a:p>
            <a:pPr algn="l" indent="0" marL="0">
              <a:buNone/>
            </a:pPr>
            <a:r>
              <a:rPr lang="en-US" sz="850" b="1" spc="300" kern="0" dirty="0">
                <a:solidFill>
                  <a:srgbClr val="F4A726"/>
                </a:solidFill>
                <a:latin typeface="Calibri" pitchFamily="34" charset="0"/>
                <a:ea typeface="Calibri" pitchFamily="34" charset="-122"/>
                <a:cs typeface="Calibri" pitchFamily="34" charset="-120"/>
              </a:rPr>
              <a:t>PROBLEM STATEMENT</a:t>
            </a:r>
            <a:endParaRPr lang="en-US" sz="850" dirty="0"/>
          </a:p>
        </p:txBody>
      </p:sp>
      <p:sp>
        <p:nvSpPr>
          <p:cNvPr id="3" name="Text 1"/>
          <p:cNvSpPr/>
          <p:nvPr/>
        </p:nvSpPr>
        <p:spPr>
          <a:xfrm>
            <a:off x="457200" y="384048"/>
            <a:ext cx="8229600" cy="594360"/>
          </a:xfrm>
          <a:prstGeom prst="rect">
            <a:avLst/>
          </a:prstGeom>
          <a:noFill/>
          <a:ln/>
        </p:spPr>
        <p:txBody>
          <a:bodyPr wrap="square" lIns="0" tIns="0" rIns="0" bIns="0" rtlCol="0" anchor="ctr"/>
          <a:lstStyle/>
          <a:p>
            <a:pPr algn="l" indent="0" marL="0">
              <a:buNone/>
            </a:pPr>
            <a:r>
              <a:rPr lang="en-US" sz="3000" b="1" dirty="0">
                <a:solidFill>
                  <a:srgbClr val="1B2B3B"/>
                </a:solidFill>
                <a:latin typeface="Calibri" pitchFamily="34" charset="0"/>
                <a:ea typeface="Calibri" pitchFamily="34" charset="-122"/>
                <a:cs typeface="Calibri" pitchFamily="34" charset="-120"/>
              </a:rPr>
              <a:t>What Are We Solving?</a:t>
            </a:r>
            <a:endParaRPr lang="en-US" sz="3000" dirty="0"/>
          </a:p>
        </p:txBody>
      </p:sp>
      <p:sp>
        <p:nvSpPr>
          <p:cNvPr id="4" name="Shape 2"/>
          <p:cNvSpPr/>
          <p:nvPr/>
        </p:nvSpPr>
        <p:spPr>
          <a:xfrm>
            <a:off x="457200" y="1143000"/>
            <a:ext cx="4480560" cy="1207008"/>
          </a:xfrm>
          <a:prstGeom prst="rect">
            <a:avLst/>
          </a:prstGeom>
          <a:solidFill>
            <a:srgbClr val="E0F4F7"/>
          </a:solidFill>
          <a:ln w="6350">
            <a:solidFill>
              <a:srgbClr val="DDE3EC"/>
            </a:solidFill>
            <a:prstDash val="solid"/>
          </a:ln>
          <a:effectLst>
            <a:outerShdw sx="100000" sy="100000" kx="0" ky="0" algn="bl" rotWithShape="0" blurRad="127000" dist="38100" dir="8100000">
              <a:srgbClr val="000000">
                <a:alpha val="6000"/>
              </a:srgbClr>
            </a:outerShdw>
          </a:effectLst>
        </p:spPr>
      </p:sp>
      <p:sp>
        <p:nvSpPr>
          <p:cNvPr id="5" name="Shape 3"/>
          <p:cNvSpPr/>
          <p:nvPr/>
        </p:nvSpPr>
        <p:spPr>
          <a:xfrm>
            <a:off x="457200" y="1143000"/>
            <a:ext cx="64008" cy="1207008"/>
          </a:xfrm>
          <a:prstGeom prst="rect">
            <a:avLst/>
          </a:prstGeom>
          <a:solidFill>
            <a:srgbClr val="0D7C8F"/>
          </a:solidFill>
          <a:ln w="12700">
            <a:solidFill>
              <a:srgbClr val="0D7C8F"/>
            </a:solidFill>
            <a:prstDash val="solid"/>
          </a:ln>
        </p:spPr>
      </p:sp>
      <p:pic>
        <p:nvPicPr>
          <p:cNvPr id="6" name="Image 0" descr="preencoded.png">    </p:cNvPr>
          <p:cNvPicPr>
            <a:picLocks noChangeAspect="1"/>
          </p:cNvPicPr>
          <p:nvPr/>
        </p:nvPicPr>
        <p:blipFill>
          <a:blip r:embed="rId1"/>
          <a:stretch>
            <a:fillRect/>
          </a:stretch>
        </p:blipFill>
        <p:spPr>
          <a:xfrm>
            <a:off x="658368" y="1481328"/>
            <a:ext cx="420624" cy="420624"/>
          </a:xfrm>
          <a:prstGeom prst="rect">
            <a:avLst/>
          </a:prstGeom>
        </p:spPr>
      </p:pic>
      <p:sp>
        <p:nvSpPr>
          <p:cNvPr id="7" name="Text 4"/>
          <p:cNvSpPr/>
          <p:nvPr/>
        </p:nvSpPr>
        <p:spPr>
          <a:xfrm>
            <a:off x="1188720" y="1325880"/>
            <a:ext cx="3611880" cy="347472"/>
          </a:xfrm>
          <a:prstGeom prst="rect">
            <a:avLst/>
          </a:prstGeom>
          <a:noFill/>
          <a:ln/>
        </p:spPr>
        <p:txBody>
          <a:bodyPr wrap="square" lIns="0" tIns="0" rIns="0" bIns="0" rtlCol="0" anchor="ctr"/>
          <a:lstStyle/>
          <a:p>
            <a:pPr indent="0" marL="0">
              <a:buNone/>
            </a:pPr>
            <a:r>
              <a:rPr lang="en-US" sz="1500" b="1" dirty="0">
                <a:solidFill>
                  <a:srgbClr val="1E2D3D"/>
                </a:solidFill>
                <a:latin typeface="Calibri" pitchFamily="34" charset="0"/>
                <a:ea typeface="Calibri" pitchFamily="34" charset="-122"/>
                <a:cs typeface="Calibri" pitchFamily="34" charset="-120"/>
              </a:rPr>
              <a:t>Regression</a:t>
            </a:r>
            <a:endParaRPr lang="en-US" sz="1500" dirty="0"/>
          </a:p>
        </p:txBody>
      </p:sp>
      <p:sp>
        <p:nvSpPr>
          <p:cNvPr id="8" name="Text 5"/>
          <p:cNvSpPr/>
          <p:nvPr/>
        </p:nvSpPr>
        <p:spPr>
          <a:xfrm>
            <a:off x="1188720" y="1691640"/>
            <a:ext cx="3611880" cy="41148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Predict AC power output from weather sensor readings</a:t>
            </a:r>
            <a:endParaRPr lang="en-US" sz="1200" dirty="0"/>
          </a:p>
        </p:txBody>
      </p:sp>
      <p:sp>
        <p:nvSpPr>
          <p:cNvPr id="9" name="Shape 6"/>
          <p:cNvSpPr/>
          <p:nvPr/>
        </p:nvSpPr>
        <p:spPr>
          <a:xfrm>
            <a:off x="457200" y="2587752"/>
            <a:ext cx="4480560" cy="1207008"/>
          </a:xfrm>
          <a:prstGeom prst="rect">
            <a:avLst/>
          </a:prstGeom>
          <a:solidFill>
            <a:srgbClr val="FEF3DC"/>
          </a:solidFill>
          <a:ln w="6350">
            <a:solidFill>
              <a:srgbClr val="DDE3EC"/>
            </a:solidFill>
            <a:prstDash val="solid"/>
          </a:ln>
          <a:effectLst>
            <a:outerShdw sx="100000" sy="100000" kx="0" ky="0" algn="bl" rotWithShape="0" blurRad="127000" dist="38100" dir="8100000">
              <a:srgbClr val="000000">
                <a:alpha val="6000"/>
              </a:srgbClr>
            </a:outerShdw>
          </a:effectLst>
        </p:spPr>
      </p:sp>
      <p:sp>
        <p:nvSpPr>
          <p:cNvPr id="10" name="Shape 7"/>
          <p:cNvSpPr/>
          <p:nvPr/>
        </p:nvSpPr>
        <p:spPr>
          <a:xfrm>
            <a:off x="457200" y="2587752"/>
            <a:ext cx="64008" cy="1207008"/>
          </a:xfrm>
          <a:prstGeom prst="rect">
            <a:avLst/>
          </a:prstGeom>
          <a:solidFill>
            <a:srgbClr val="F4A726"/>
          </a:solidFill>
          <a:ln w="12700">
            <a:solidFill>
              <a:srgbClr val="F4A726"/>
            </a:solidFill>
            <a:prstDash val="solid"/>
          </a:ln>
        </p:spPr>
      </p:sp>
      <p:pic>
        <p:nvPicPr>
          <p:cNvPr id="11" name="Image 1" descr="preencoded.png">    </p:cNvPr>
          <p:cNvPicPr>
            <a:picLocks noChangeAspect="1"/>
          </p:cNvPicPr>
          <p:nvPr/>
        </p:nvPicPr>
        <p:blipFill>
          <a:blip r:embed="rId2"/>
          <a:stretch>
            <a:fillRect/>
          </a:stretch>
        </p:blipFill>
        <p:spPr>
          <a:xfrm>
            <a:off x="658368" y="2926080"/>
            <a:ext cx="420624" cy="420624"/>
          </a:xfrm>
          <a:prstGeom prst="rect">
            <a:avLst/>
          </a:prstGeom>
        </p:spPr>
      </p:pic>
      <p:sp>
        <p:nvSpPr>
          <p:cNvPr id="12" name="Text 8"/>
          <p:cNvSpPr/>
          <p:nvPr/>
        </p:nvSpPr>
        <p:spPr>
          <a:xfrm>
            <a:off x="1188720" y="2770632"/>
            <a:ext cx="3611880" cy="347472"/>
          </a:xfrm>
          <a:prstGeom prst="rect">
            <a:avLst/>
          </a:prstGeom>
          <a:noFill/>
          <a:ln/>
        </p:spPr>
        <p:txBody>
          <a:bodyPr wrap="square" lIns="0" tIns="0" rIns="0" bIns="0" rtlCol="0" anchor="ctr"/>
          <a:lstStyle/>
          <a:p>
            <a:pPr indent="0" marL="0">
              <a:buNone/>
            </a:pPr>
            <a:r>
              <a:rPr lang="en-US" sz="1500" b="1" dirty="0">
                <a:solidFill>
                  <a:srgbClr val="1E2D3D"/>
                </a:solidFill>
                <a:latin typeface="Calibri" pitchFamily="34" charset="0"/>
                <a:ea typeface="Calibri" pitchFamily="34" charset="-122"/>
                <a:cs typeface="Calibri" pitchFamily="34" charset="-120"/>
              </a:rPr>
              <a:t>Anomaly Detection</a:t>
            </a:r>
            <a:endParaRPr lang="en-US" sz="1500" dirty="0"/>
          </a:p>
        </p:txBody>
      </p:sp>
      <p:sp>
        <p:nvSpPr>
          <p:cNvPr id="13" name="Text 9"/>
          <p:cNvSpPr/>
          <p:nvPr/>
        </p:nvSpPr>
        <p:spPr>
          <a:xfrm>
            <a:off x="1188720" y="3136392"/>
            <a:ext cx="3611880" cy="41148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Flag inverters that underperform vs. their expected output</a:t>
            </a:r>
            <a:endParaRPr lang="en-US" sz="1200" dirty="0"/>
          </a:p>
        </p:txBody>
      </p:sp>
      <p:sp>
        <p:nvSpPr>
          <p:cNvPr id="14" name="Text 10"/>
          <p:cNvSpPr/>
          <p:nvPr/>
        </p:nvSpPr>
        <p:spPr>
          <a:xfrm>
            <a:off x="5166360" y="1097280"/>
            <a:ext cx="3749040" cy="228600"/>
          </a:xfrm>
          <a:prstGeom prst="rect">
            <a:avLst/>
          </a:prstGeom>
          <a:noFill/>
          <a:ln/>
        </p:spPr>
        <p:txBody>
          <a:bodyPr wrap="square" lIns="0" tIns="0" rIns="0" bIns="0" rtlCol="0" anchor="ctr"/>
          <a:lstStyle/>
          <a:p>
            <a:pPr indent="0" marL="0">
              <a:buNone/>
            </a:pPr>
            <a:r>
              <a:rPr lang="en-US" sz="850" b="1" spc="200" kern="0" dirty="0">
                <a:solidFill>
                  <a:srgbClr val="F4A726"/>
                </a:solidFill>
                <a:latin typeface="Calibri" pitchFamily="34" charset="0"/>
                <a:ea typeface="Calibri" pitchFamily="34" charset="-122"/>
                <a:cs typeface="Calibri" pitchFamily="34" charset="-120"/>
              </a:rPr>
              <a:t>DATA SOURCES</a:t>
            </a:r>
            <a:endParaRPr lang="en-US" sz="850" dirty="0"/>
          </a:p>
        </p:txBody>
      </p:sp>
      <p:pic>
        <p:nvPicPr>
          <p:cNvPr id="15" name="Image 2" descr="preencoded.png">    </p:cNvPr>
          <p:cNvPicPr>
            <a:picLocks noChangeAspect="1"/>
          </p:cNvPicPr>
          <p:nvPr/>
        </p:nvPicPr>
        <p:blipFill>
          <a:blip r:embed="rId3"/>
          <a:stretch>
            <a:fillRect/>
          </a:stretch>
        </p:blipFill>
        <p:spPr>
          <a:xfrm>
            <a:off x="5212080" y="1490472"/>
            <a:ext cx="320040" cy="320040"/>
          </a:xfrm>
          <a:prstGeom prst="rect">
            <a:avLst/>
          </a:prstGeom>
        </p:spPr>
      </p:pic>
      <p:sp>
        <p:nvSpPr>
          <p:cNvPr id="16" name="Text 11"/>
          <p:cNvSpPr/>
          <p:nvPr/>
        </p:nvSpPr>
        <p:spPr>
          <a:xfrm>
            <a:off x="5650992" y="1417320"/>
            <a:ext cx="3246120" cy="310896"/>
          </a:xfrm>
          <a:prstGeom prst="rect">
            <a:avLst/>
          </a:prstGeom>
          <a:noFill/>
          <a:ln/>
        </p:spPr>
        <p:txBody>
          <a:bodyPr wrap="square" lIns="0" tIns="0" rIns="0" bIns="0" rtlCol="0" anchor="ctr"/>
          <a:lstStyle/>
          <a:p>
            <a:pPr indent="0" marL="0">
              <a:buNone/>
            </a:pPr>
            <a:r>
              <a:rPr lang="en-US" sz="1300" b="1" dirty="0">
                <a:solidFill>
                  <a:srgbClr val="1E2D3D"/>
                </a:solidFill>
                <a:latin typeface="Calibri" pitchFamily="34" charset="0"/>
                <a:ea typeface="Calibri" pitchFamily="34" charset="-122"/>
                <a:cs typeface="Calibri" pitchFamily="34" charset="-120"/>
              </a:rPr>
              <a:t>Plant 1 Generation</a:t>
            </a:r>
            <a:endParaRPr lang="en-US" sz="1300" dirty="0"/>
          </a:p>
        </p:txBody>
      </p:sp>
      <p:sp>
        <p:nvSpPr>
          <p:cNvPr id="17" name="Text 12"/>
          <p:cNvSpPr/>
          <p:nvPr/>
        </p:nvSpPr>
        <p:spPr>
          <a:xfrm>
            <a:off x="5650992" y="1728216"/>
            <a:ext cx="3246120" cy="31089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22 inverters · May–Jun 2020 · 15-min readings</a:t>
            </a:r>
            <a:endParaRPr lang="en-US" sz="1100" dirty="0"/>
          </a:p>
        </p:txBody>
      </p:sp>
      <p:pic>
        <p:nvPicPr>
          <p:cNvPr id="18" name="Image 3" descr="preencoded.png">    </p:cNvPr>
          <p:cNvPicPr>
            <a:picLocks noChangeAspect="1"/>
          </p:cNvPicPr>
          <p:nvPr/>
        </p:nvPicPr>
        <p:blipFill>
          <a:blip r:embed="rId4"/>
          <a:stretch>
            <a:fillRect/>
          </a:stretch>
        </p:blipFill>
        <p:spPr>
          <a:xfrm>
            <a:off x="5212080" y="2496312"/>
            <a:ext cx="320040" cy="320040"/>
          </a:xfrm>
          <a:prstGeom prst="rect">
            <a:avLst/>
          </a:prstGeom>
        </p:spPr>
      </p:pic>
      <p:sp>
        <p:nvSpPr>
          <p:cNvPr id="19" name="Text 13"/>
          <p:cNvSpPr/>
          <p:nvPr/>
        </p:nvSpPr>
        <p:spPr>
          <a:xfrm>
            <a:off x="5650992" y="2423160"/>
            <a:ext cx="3246120" cy="310896"/>
          </a:xfrm>
          <a:prstGeom prst="rect">
            <a:avLst/>
          </a:prstGeom>
          <a:noFill/>
          <a:ln/>
        </p:spPr>
        <p:txBody>
          <a:bodyPr wrap="square" lIns="0" tIns="0" rIns="0" bIns="0" rtlCol="0" anchor="ctr"/>
          <a:lstStyle/>
          <a:p>
            <a:pPr indent="0" marL="0">
              <a:buNone/>
            </a:pPr>
            <a:r>
              <a:rPr lang="en-US" sz="1300" b="1" dirty="0">
                <a:solidFill>
                  <a:srgbClr val="1E2D3D"/>
                </a:solidFill>
                <a:latin typeface="Calibri" pitchFamily="34" charset="0"/>
                <a:ea typeface="Calibri" pitchFamily="34" charset="-122"/>
                <a:cs typeface="Calibri" pitchFamily="34" charset="-120"/>
              </a:rPr>
              <a:t>Plant 2 Generation</a:t>
            </a:r>
            <a:endParaRPr lang="en-US" sz="1300" dirty="0"/>
          </a:p>
        </p:txBody>
      </p:sp>
      <p:sp>
        <p:nvSpPr>
          <p:cNvPr id="20" name="Text 14"/>
          <p:cNvSpPr/>
          <p:nvPr/>
        </p:nvSpPr>
        <p:spPr>
          <a:xfrm>
            <a:off x="5650992" y="2734056"/>
            <a:ext cx="3246120" cy="31089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22 inverters · same period · 15-min readings</a:t>
            </a:r>
            <a:endParaRPr lang="en-US" sz="1100" dirty="0"/>
          </a:p>
        </p:txBody>
      </p:sp>
      <p:pic>
        <p:nvPicPr>
          <p:cNvPr id="21" name="Image 4" descr="preencoded.png">    </p:cNvPr>
          <p:cNvPicPr>
            <a:picLocks noChangeAspect="1"/>
          </p:cNvPicPr>
          <p:nvPr/>
        </p:nvPicPr>
        <p:blipFill>
          <a:blip r:embed="rId5"/>
          <a:stretch>
            <a:fillRect/>
          </a:stretch>
        </p:blipFill>
        <p:spPr>
          <a:xfrm>
            <a:off x="5212080" y="3502152"/>
            <a:ext cx="320040" cy="320040"/>
          </a:xfrm>
          <a:prstGeom prst="rect">
            <a:avLst/>
          </a:prstGeom>
        </p:spPr>
      </p:pic>
      <p:sp>
        <p:nvSpPr>
          <p:cNvPr id="22" name="Text 15"/>
          <p:cNvSpPr/>
          <p:nvPr/>
        </p:nvSpPr>
        <p:spPr>
          <a:xfrm>
            <a:off x="5650992" y="3429000"/>
            <a:ext cx="3246120" cy="310896"/>
          </a:xfrm>
          <a:prstGeom prst="rect">
            <a:avLst/>
          </a:prstGeom>
          <a:noFill/>
          <a:ln/>
        </p:spPr>
        <p:txBody>
          <a:bodyPr wrap="square" lIns="0" tIns="0" rIns="0" bIns="0" rtlCol="0" anchor="ctr"/>
          <a:lstStyle/>
          <a:p>
            <a:pPr indent="0" marL="0">
              <a:buNone/>
            </a:pPr>
            <a:r>
              <a:rPr lang="en-US" sz="1300" b="1" dirty="0">
                <a:solidFill>
                  <a:srgbClr val="1E2D3D"/>
                </a:solidFill>
                <a:latin typeface="Calibri" pitchFamily="34" charset="0"/>
                <a:ea typeface="Calibri" pitchFamily="34" charset="-122"/>
                <a:cs typeface="Calibri" pitchFamily="34" charset="-120"/>
              </a:rPr>
              <a:t>Solar Recording</a:t>
            </a:r>
            <a:endParaRPr lang="en-US" sz="1300" dirty="0"/>
          </a:p>
        </p:txBody>
      </p:sp>
      <p:sp>
        <p:nvSpPr>
          <p:cNvPr id="23" name="Text 16"/>
          <p:cNvSpPr/>
          <p:nvPr/>
        </p:nvSpPr>
        <p:spPr>
          <a:xfrm>
            <a:off x="5650992" y="3739896"/>
            <a:ext cx="3246120" cy="31089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Weather · radiation, temp, humidity, wind</a:t>
            </a:r>
            <a:endParaRPr lang="en-US" sz="1100" dirty="0"/>
          </a:p>
        </p:txBody>
      </p:sp>
      <p:sp>
        <p:nvSpPr>
          <p:cNvPr id="24" name="Shape 17"/>
          <p:cNvSpPr/>
          <p:nvPr/>
        </p:nvSpPr>
        <p:spPr>
          <a:xfrm>
            <a:off x="457200" y="4041648"/>
            <a:ext cx="1993392" cy="850392"/>
          </a:xfrm>
          <a:prstGeom prst="rect">
            <a:avLst/>
          </a:prstGeom>
          <a:solidFill>
            <a:srgbClr val="E0F4F7"/>
          </a:solidFill>
          <a:ln w="6350">
            <a:solidFill>
              <a:srgbClr val="DDE3EC"/>
            </a:solidFill>
            <a:prstDash val="solid"/>
          </a:ln>
        </p:spPr>
      </p:sp>
      <p:sp>
        <p:nvSpPr>
          <p:cNvPr id="25" name="Text 18"/>
          <p:cNvSpPr/>
          <p:nvPr/>
        </p:nvSpPr>
        <p:spPr>
          <a:xfrm>
            <a:off x="457200" y="4114800"/>
            <a:ext cx="1993392" cy="467716"/>
          </a:xfrm>
          <a:prstGeom prst="rect">
            <a:avLst/>
          </a:prstGeom>
          <a:noFill/>
          <a:ln/>
        </p:spPr>
        <p:txBody>
          <a:bodyPr wrap="square" lIns="0" tIns="0" rIns="0" bIns="0" rtlCol="0" anchor="b"/>
          <a:lstStyle/>
          <a:p>
            <a:pPr algn="ctr" indent="0" marL="0">
              <a:buNone/>
            </a:pPr>
            <a:r>
              <a:rPr lang="en-US" sz="2600" b="1" dirty="0">
                <a:solidFill>
                  <a:srgbClr val="0D7C8F"/>
                </a:solidFill>
                <a:latin typeface="Calibri" pitchFamily="34" charset="0"/>
                <a:ea typeface="Calibri" pitchFamily="34" charset="-122"/>
                <a:cs typeface="Calibri" pitchFamily="34" charset="-120"/>
              </a:rPr>
              <a:t>44</a:t>
            </a:r>
            <a:endParaRPr lang="en-US" sz="2600" dirty="0"/>
          </a:p>
        </p:txBody>
      </p:sp>
      <p:sp>
        <p:nvSpPr>
          <p:cNvPr id="26" name="Text 19"/>
          <p:cNvSpPr/>
          <p:nvPr/>
        </p:nvSpPr>
        <p:spPr>
          <a:xfrm>
            <a:off x="457200" y="4534875"/>
            <a:ext cx="1993392" cy="323149"/>
          </a:xfrm>
          <a:prstGeom prst="rect">
            <a:avLst/>
          </a:prstGeom>
          <a:noFill/>
          <a:ln/>
        </p:spPr>
        <p:txBody>
          <a:bodyPr wrap="square" lIns="0" tIns="0" rIns="0" bIns="0"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days of data</a:t>
            </a:r>
            <a:endParaRPr lang="en-US" sz="1000" dirty="0"/>
          </a:p>
        </p:txBody>
      </p:sp>
      <p:sp>
        <p:nvSpPr>
          <p:cNvPr id="27" name="Shape 20"/>
          <p:cNvSpPr/>
          <p:nvPr/>
        </p:nvSpPr>
        <p:spPr>
          <a:xfrm>
            <a:off x="2633472" y="4041648"/>
            <a:ext cx="1993392" cy="850392"/>
          </a:xfrm>
          <a:prstGeom prst="rect">
            <a:avLst/>
          </a:prstGeom>
          <a:solidFill>
            <a:srgbClr val="E0F4F7"/>
          </a:solidFill>
          <a:ln w="6350">
            <a:solidFill>
              <a:srgbClr val="DDE3EC"/>
            </a:solidFill>
            <a:prstDash val="solid"/>
          </a:ln>
        </p:spPr>
      </p:sp>
      <p:sp>
        <p:nvSpPr>
          <p:cNvPr id="28" name="Text 21"/>
          <p:cNvSpPr/>
          <p:nvPr/>
        </p:nvSpPr>
        <p:spPr>
          <a:xfrm>
            <a:off x="2633472" y="4114800"/>
            <a:ext cx="1993392" cy="467716"/>
          </a:xfrm>
          <a:prstGeom prst="rect">
            <a:avLst/>
          </a:prstGeom>
          <a:noFill/>
          <a:ln/>
        </p:spPr>
        <p:txBody>
          <a:bodyPr wrap="square" lIns="0" tIns="0" rIns="0" bIns="0" rtlCol="0" anchor="b"/>
          <a:lstStyle/>
          <a:p>
            <a:pPr algn="ctr" indent="0" marL="0">
              <a:buNone/>
            </a:pPr>
            <a:r>
              <a:rPr lang="en-US" sz="2600" b="1" dirty="0">
                <a:solidFill>
                  <a:srgbClr val="0D7C8F"/>
                </a:solidFill>
                <a:latin typeface="Calibri" pitchFamily="34" charset="0"/>
                <a:ea typeface="Calibri" pitchFamily="34" charset="-122"/>
                <a:cs typeface="Calibri" pitchFamily="34" charset="-120"/>
              </a:rPr>
              <a:t>22</a:t>
            </a:r>
            <a:endParaRPr lang="en-US" sz="2600" dirty="0"/>
          </a:p>
        </p:txBody>
      </p:sp>
      <p:sp>
        <p:nvSpPr>
          <p:cNvPr id="29" name="Text 22"/>
          <p:cNvSpPr/>
          <p:nvPr/>
        </p:nvSpPr>
        <p:spPr>
          <a:xfrm>
            <a:off x="2633472" y="4534875"/>
            <a:ext cx="1993392" cy="323149"/>
          </a:xfrm>
          <a:prstGeom prst="rect">
            <a:avLst/>
          </a:prstGeom>
          <a:noFill/>
          <a:ln/>
        </p:spPr>
        <p:txBody>
          <a:bodyPr wrap="square" lIns="0" tIns="0" rIns="0" bIns="0"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inverters / plant</a:t>
            </a:r>
            <a:endParaRPr lang="en-US" sz="1000" dirty="0"/>
          </a:p>
        </p:txBody>
      </p:sp>
      <p:sp>
        <p:nvSpPr>
          <p:cNvPr id="30" name="Shape 23"/>
          <p:cNvSpPr/>
          <p:nvPr/>
        </p:nvSpPr>
        <p:spPr>
          <a:xfrm>
            <a:off x="4809744" y="4041648"/>
            <a:ext cx="1993392" cy="850392"/>
          </a:xfrm>
          <a:prstGeom prst="rect">
            <a:avLst/>
          </a:prstGeom>
          <a:solidFill>
            <a:srgbClr val="E0F4F7"/>
          </a:solidFill>
          <a:ln w="6350">
            <a:solidFill>
              <a:srgbClr val="DDE3EC"/>
            </a:solidFill>
            <a:prstDash val="solid"/>
          </a:ln>
        </p:spPr>
      </p:sp>
      <p:sp>
        <p:nvSpPr>
          <p:cNvPr id="31" name="Text 24"/>
          <p:cNvSpPr/>
          <p:nvPr/>
        </p:nvSpPr>
        <p:spPr>
          <a:xfrm>
            <a:off x="4809744" y="4114800"/>
            <a:ext cx="1993392" cy="467716"/>
          </a:xfrm>
          <a:prstGeom prst="rect">
            <a:avLst/>
          </a:prstGeom>
          <a:noFill/>
          <a:ln/>
        </p:spPr>
        <p:txBody>
          <a:bodyPr wrap="square" lIns="0" tIns="0" rIns="0" bIns="0" rtlCol="0" anchor="b"/>
          <a:lstStyle/>
          <a:p>
            <a:pPr algn="ctr" indent="0" marL="0">
              <a:buNone/>
            </a:pPr>
            <a:r>
              <a:rPr lang="en-US" sz="2600" b="1" dirty="0">
                <a:solidFill>
                  <a:srgbClr val="0D7C8F"/>
                </a:solidFill>
                <a:latin typeface="Calibri" pitchFamily="34" charset="0"/>
                <a:ea typeface="Calibri" pitchFamily="34" charset="-122"/>
                <a:cs typeface="Calibri" pitchFamily="34" charset="-120"/>
              </a:rPr>
              <a:t>96</a:t>
            </a:r>
            <a:endParaRPr lang="en-US" sz="2600" dirty="0"/>
          </a:p>
        </p:txBody>
      </p:sp>
      <p:sp>
        <p:nvSpPr>
          <p:cNvPr id="32" name="Text 25"/>
          <p:cNvSpPr/>
          <p:nvPr/>
        </p:nvSpPr>
        <p:spPr>
          <a:xfrm>
            <a:off x="4809744" y="4534875"/>
            <a:ext cx="1993392" cy="323149"/>
          </a:xfrm>
          <a:prstGeom prst="rect">
            <a:avLst/>
          </a:prstGeom>
          <a:noFill/>
          <a:ln/>
        </p:spPr>
        <p:txBody>
          <a:bodyPr wrap="square" lIns="0" tIns="0" rIns="0" bIns="0"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readings / day</a:t>
            </a:r>
            <a:endParaRPr lang="en-US" sz="1000" dirty="0"/>
          </a:p>
        </p:txBody>
      </p:sp>
      <p:sp>
        <p:nvSpPr>
          <p:cNvPr id="33" name="Shape 26"/>
          <p:cNvSpPr/>
          <p:nvPr/>
        </p:nvSpPr>
        <p:spPr>
          <a:xfrm>
            <a:off x="6986016" y="4041648"/>
            <a:ext cx="1993392" cy="850392"/>
          </a:xfrm>
          <a:prstGeom prst="rect">
            <a:avLst/>
          </a:prstGeom>
          <a:solidFill>
            <a:srgbClr val="E0F4F7"/>
          </a:solidFill>
          <a:ln w="6350">
            <a:solidFill>
              <a:srgbClr val="DDE3EC"/>
            </a:solidFill>
            <a:prstDash val="solid"/>
          </a:ln>
        </p:spPr>
      </p:sp>
      <p:sp>
        <p:nvSpPr>
          <p:cNvPr id="34" name="Text 27"/>
          <p:cNvSpPr/>
          <p:nvPr/>
        </p:nvSpPr>
        <p:spPr>
          <a:xfrm>
            <a:off x="6986016" y="4114800"/>
            <a:ext cx="1993392" cy="467716"/>
          </a:xfrm>
          <a:prstGeom prst="rect">
            <a:avLst/>
          </a:prstGeom>
          <a:noFill/>
          <a:ln/>
        </p:spPr>
        <p:txBody>
          <a:bodyPr wrap="square" lIns="0" tIns="0" rIns="0" bIns="0" rtlCol="0" anchor="b"/>
          <a:lstStyle/>
          <a:p>
            <a:pPr algn="ctr" indent="0" marL="0">
              <a:buNone/>
            </a:pPr>
            <a:r>
              <a:rPr lang="en-US" sz="2600" b="1" dirty="0">
                <a:solidFill>
                  <a:srgbClr val="0D7C8F"/>
                </a:solidFill>
                <a:latin typeface="Calibri" pitchFamily="34" charset="0"/>
                <a:ea typeface="Calibri" pitchFamily="34" charset="-122"/>
                <a:cs typeface="Calibri" pitchFamily="34" charset="-120"/>
              </a:rPr>
              <a:t>~135K</a:t>
            </a:r>
            <a:endParaRPr lang="en-US" sz="2600" dirty="0"/>
          </a:p>
        </p:txBody>
      </p:sp>
      <p:sp>
        <p:nvSpPr>
          <p:cNvPr id="35" name="Text 28"/>
          <p:cNvSpPr/>
          <p:nvPr/>
        </p:nvSpPr>
        <p:spPr>
          <a:xfrm>
            <a:off x="6986016" y="4534875"/>
            <a:ext cx="1993392" cy="323149"/>
          </a:xfrm>
          <a:prstGeom prst="rect">
            <a:avLst/>
          </a:prstGeom>
          <a:noFill/>
          <a:ln/>
        </p:spPr>
        <p:txBody>
          <a:bodyPr wrap="square" lIns="0" tIns="0" rIns="0" bIns="0"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total rows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164592"/>
            <a:ext cx="8229600" cy="201168"/>
          </a:xfrm>
          <a:prstGeom prst="rect">
            <a:avLst/>
          </a:prstGeom>
          <a:noFill/>
          <a:ln/>
        </p:spPr>
        <p:txBody>
          <a:bodyPr wrap="square" lIns="0" tIns="0" rIns="0" bIns="0" rtlCol="0" anchor="ctr"/>
          <a:lstStyle/>
          <a:p>
            <a:pPr algn="l" indent="0" marL="0">
              <a:buNone/>
            </a:pPr>
            <a:r>
              <a:rPr lang="en-US" sz="850" b="1" spc="300" kern="0" dirty="0">
                <a:solidFill>
                  <a:srgbClr val="F4A726"/>
                </a:solidFill>
                <a:latin typeface="Calibri" pitchFamily="34" charset="0"/>
                <a:ea typeface="Calibri" pitchFamily="34" charset="-122"/>
                <a:cs typeface="Calibri" pitchFamily="34" charset="-120"/>
              </a:rPr>
              <a:t>EDA · DATA QUALITY</a:t>
            </a:r>
            <a:endParaRPr lang="en-US" sz="850" dirty="0"/>
          </a:p>
        </p:txBody>
      </p:sp>
      <p:sp>
        <p:nvSpPr>
          <p:cNvPr id="3" name="Text 1"/>
          <p:cNvSpPr/>
          <p:nvPr/>
        </p:nvSpPr>
        <p:spPr>
          <a:xfrm>
            <a:off x="457200" y="384048"/>
            <a:ext cx="8229600" cy="594360"/>
          </a:xfrm>
          <a:prstGeom prst="rect">
            <a:avLst/>
          </a:prstGeom>
          <a:noFill/>
          <a:ln/>
        </p:spPr>
        <p:txBody>
          <a:bodyPr wrap="square" lIns="0" tIns="0" rIns="0" bIns="0" rtlCol="0" anchor="ctr"/>
          <a:lstStyle/>
          <a:p>
            <a:pPr algn="l" indent="0" marL="0">
              <a:buNone/>
            </a:pPr>
            <a:r>
              <a:rPr lang="en-US" sz="3000" b="1" dirty="0">
                <a:solidFill>
                  <a:srgbClr val="1B2B3B"/>
                </a:solidFill>
                <a:latin typeface="Calibri" pitchFamily="34" charset="0"/>
                <a:ea typeface="Calibri" pitchFamily="34" charset="-122"/>
                <a:cs typeface="Calibri" pitchFamily="34" charset="-120"/>
              </a:rPr>
              <a:t>Two Bugs We Caught Before Modelling</a:t>
            </a:r>
            <a:endParaRPr lang="en-US" sz="3000" dirty="0"/>
          </a:p>
        </p:txBody>
      </p:sp>
      <p:sp>
        <p:nvSpPr>
          <p:cNvPr id="4" name="Shape 2"/>
          <p:cNvSpPr/>
          <p:nvPr/>
        </p:nvSpPr>
        <p:spPr>
          <a:xfrm>
            <a:off x="457200" y="1097280"/>
            <a:ext cx="4133088" cy="3566160"/>
          </a:xfrm>
          <a:prstGeom prst="rect">
            <a:avLst/>
          </a:prstGeom>
          <a:solidFill>
            <a:srgbClr val="FFFFFF"/>
          </a:solidFill>
          <a:ln w="6350">
            <a:solidFill>
              <a:srgbClr val="DDE3EC"/>
            </a:solidFill>
            <a:prstDash val="solid"/>
          </a:ln>
          <a:effectLst>
            <a:outerShdw sx="100000" sy="100000" kx="0" ky="0" algn="bl" rotWithShape="0" blurRad="127000" dist="38100" dir="8100000">
              <a:srgbClr val="000000">
                <a:alpha val="6000"/>
              </a:srgbClr>
            </a:outerShdw>
          </a:effectLst>
        </p:spPr>
      </p:sp>
      <p:sp>
        <p:nvSpPr>
          <p:cNvPr id="5" name="Shape 3"/>
          <p:cNvSpPr/>
          <p:nvPr/>
        </p:nvSpPr>
        <p:spPr>
          <a:xfrm>
            <a:off x="457200" y="1097280"/>
            <a:ext cx="64008" cy="3566160"/>
          </a:xfrm>
          <a:prstGeom prst="rect">
            <a:avLst/>
          </a:prstGeom>
          <a:solidFill>
            <a:srgbClr val="D94040"/>
          </a:solidFill>
          <a:ln w="12700">
            <a:solidFill>
              <a:srgbClr val="D94040"/>
            </a:solidFill>
            <a:prstDash val="solid"/>
          </a:ln>
        </p:spPr>
      </p:sp>
      <p:pic>
        <p:nvPicPr>
          <p:cNvPr id="6" name="Image 0" descr="preencoded.png">    </p:cNvPr>
          <p:cNvPicPr>
            <a:picLocks noChangeAspect="1"/>
          </p:cNvPicPr>
          <p:nvPr/>
        </p:nvPicPr>
        <p:blipFill>
          <a:blip r:embed="rId1"/>
          <a:stretch>
            <a:fillRect/>
          </a:stretch>
        </p:blipFill>
        <p:spPr>
          <a:xfrm>
            <a:off x="658368" y="1188720"/>
            <a:ext cx="384048" cy="384048"/>
          </a:xfrm>
          <a:prstGeom prst="rect">
            <a:avLst/>
          </a:prstGeom>
        </p:spPr>
      </p:pic>
      <p:sp>
        <p:nvSpPr>
          <p:cNvPr id="7" name="Text 4"/>
          <p:cNvSpPr/>
          <p:nvPr/>
        </p:nvSpPr>
        <p:spPr>
          <a:xfrm>
            <a:off x="1143000" y="1170432"/>
            <a:ext cx="3291840" cy="365760"/>
          </a:xfrm>
          <a:prstGeom prst="rect">
            <a:avLst/>
          </a:prstGeom>
          <a:noFill/>
          <a:ln/>
        </p:spPr>
        <p:txBody>
          <a:bodyPr wrap="square" lIns="0" tIns="0" rIns="0" bIns="0" rtlCol="0" anchor="ctr"/>
          <a:lstStyle/>
          <a:p>
            <a:pPr indent="0" marL="0">
              <a:buNone/>
            </a:pPr>
            <a:r>
              <a:rPr lang="en-US" sz="1400" b="1" dirty="0">
                <a:solidFill>
                  <a:srgbClr val="D94040"/>
                </a:solidFill>
                <a:latin typeface="Calibri" pitchFamily="34" charset="0"/>
                <a:ea typeface="Calibri" pitchFamily="34" charset="-122"/>
                <a:cs typeface="Calibri" pitchFamily="34" charset="-120"/>
              </a:rPr>
              <a:t>Bug #1 · Unit Mismatch</a:t>
            </a:r>
            <a:endParaRPr lang="en-US" sz="1400" dirty="0"/>
          </a:p>
        </p:txBody>
      </p:sp>
      <p:sp>
        <p:nvSpPr>
          <p:cNvPr id="8" name="Text 5"/>
          <p:cNvSpPr/>
          <p:nvPr/>
        </p:nvSpPr>
        <p:spPr>
          <a:xfrm>
            <a:off x="658368" y="1664208"/>
            <a:ext cx="3767328" cy="1417320"/>
          </a:xfrm>
          <a:prstGeom prst="rect">
            <a:avLst/>
          </a:prstGeom>
          <a:noFill/>
          <a:ln/>
        </p:spPr>
        <p:txBody>
          <a:bodyPr wrap="square" rtlCol="0" anchor="ctr"/>
          <a:lstStyle/>
          <a:p>
            <a:pPr marL="342900" indent="-342900">
              <a:spcAft>
                <a:spcPts val="500"/>
              </a:spcAft>
              <a:buSzPct val="100000"/>
              <a:buChar char="•"/>
            </a:pPr>
            <a:r>
              <a:rPr lang="en-US" sz="1200" dirty="0">
                <a:solidFill>
                  <a:srgbClr val="1E2D3D"/>
                </a:solidFill>
                <a:latin typeface="Calibri" pitchFamily="34" charset="0"/>
                <a:ea typeface="Calibri" pitchFamily="34" charset="-122"/>
                <a:cs typeface="Calibri" pitchFamily="34" charset="-120"/>
              </a:rPr>
              <a:t>Plant 1 AC/DC ratio = 0.098</a:t>
            </a:r>
            <a:endParaRPr lang="en-US" sz="1200" dirty="0"/>
          </a:p>
          <a:p>
            <a:pPr marL="342900" indent="-342900">
              <a:spcAft>
                <a:spcPts val="500"/>
              </a:spcAft>
              <a:buSzPct val="100000"/>
              <a:buChar char="•"/>
            </a:pPr>
            <a:r>
              <a:rPr lang="en-US" sz="1200" dirty="0">
                <a:solidFill>
                  <a:srgbClr val="1E2D3D"/>
                </a:solidFill>
                <a:latin typeface="Calibri" pitchFamily="34" charset="0"/>
                <a:ea typeface="Calibri" pitchFamily="34" charset="-122"/>
                <a:cs typeface="Calibri" pitchFamily="34" charset="-120"/>
              </a:rPr>
              <a:t>Real inverter efficiency is 95–99%</a:t>
            </a:r>
            <a:endParaRPr lang="en-US" sz="1200" dirty="0"/>
          </a:p>
          <a:p>
            <a:pPr marL="342900" indent="-342900">
              <a:spcAft>
                <a:spcPts val="500"/>
              </a:spcAft>
              <a:buSzPct val="100000"/>
              <a:buChar char="•"/>
            </a:pPr>
            <a:r>
              <a:rPr lang="en-US" sz="1200" dirty="0">
                <a:solidFill>
                  <a:srgbClr val="1E2D3D"/>
                </a:solidFill>
                <a:latin typeface="Calibri" pitchFamily="34" charset="0"/>
                <a:ea typeface="Calibri" pitchFamily="34" charset="-122"/>
                <a:cs typeface="Calibri" pitchFamily="34" charset="-120"/>
              </a:rPr>
              <a:t>Ratio identical across all 22 inverters</a:t>
            </a:r>
            <a:endParaRPr lang="en-US" sz="1200" dirty="0"/>
          </a:p>
          <a:p>
            <a:pPr marL="342900" indent="-342900">
              <a:spcAft>
                <a:spcPts val="500"/>
              </a:spcAft>
              <a:buSzPct val="100000"/>
              <a:buChar char="•"/>
            </a:pPr>
            <a:r>
              <a:rPr lang="en-US" sz="1200" dirty="0">
                <a:solidFill>
                  <a:srgbClr val="1E2D3D"/>
                </a:solidFill>
                <a:latin typeface="Calibri" pitchFamily="34" charset="0"/>
                <a:ea typeface="Calibri" pitchFamily="34" charset="-122"/>
                <a:cs typeface="Calibri" pitchFamily="34" charset="-120"/>
              </a:rPr>
              <a:t>→ DC recorded at 10.2× scale of AC</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58368" y="3182112"/>
          <a:ext cx="3767328" cy="914400"/>
        </p:xfrm>
        <a:graphic>
          <a:graphicData uri="http://schemas.openxmlformats.org/drawingml/2006/table">
            <a:tbl>
              <a:tblPr/>
              <a:tblGrid>
                <a:gridCol w="1255776"/>
                <a:gridCol w="1255776"/>
                <a:gridCol w="1255776"/>
              </a:tblGrid>
              <a:tr h="304800">
                <a:tc>
                  <a:txBody>
                    <a:bodyPr/>
                    <a:lstStyle/>
                    <a:p>
                      <a:pPr indent="0" marL="0">
                        <a:buNone/>
                      </a:pP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EEF1F6"/>
                    </a:solidFill>
                  </a:tcPr>
                </a:tc>
                <a:tc>
                  <a:txBody>
                    <a:bodyPr/>
                    <a:lstStyle/>
                    <a:p>
                      <a:pPr indent="0" marL="0">
                        <a:buNone/>
                      </a:pPr>
                      <a:r>
                        <a:rPr lang="en-US" sz="1100" b="1" dirty="0">
                          <a:solidFill>
                            <a:srgbClr val="D94040"/>
                          </a:solidFill>
                          <a:latin typeface="Calibri" pitchFamily="34" charset="0"/>
                          <a:ea typeface="Calibri" pitchFamily="34" charset="-122"/>
                          <a:cs typeface="Calibri" pitchFamily="34" charset="-120"/>
                        </a:rPr>
                        <a:t>Before</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EEF1F6"/>
                    </a:solidFill>
                  </a:tcPr>
                </a:tc>
                <a:tc>
                  <a:txBody>
                    <a:bodyPr/>
                    <a:lstStyle/>
                    <a:p>
                      <a:pPr indent="0" marL="0">
                        <a:buNone/>
                      </a:pPr>
                      <a:r>
                        <a:rPr lang="en-US" sz="1100" b="1" dirty="0">
                          <a:solidFill>
                            <a:srgbClr val="1D9E75"/>
                          </a:solidFill>
                          <a:latin typeface="Calibri" pitchFamily="34" charset="0"/>
                          <a:ea typeface="Calibri" pitchFamily="34" charset="-122"/>
                          <a:cs typeface="Calibri" pitchFamily="34" charset="-120"/>
                        </a:rPr>
                        <a:t>After fix</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EEF1F6"/>
                    </a:solidFill>
                  </a:tcPr>
                </a:tc>
              </a:tr>
              <a:tr h="304800">
                <a:tc>
                  <a:txBody>
                    <a:bodyPr/>
                    <a:lstStyle/>
                    <a:p>
                      <a:pPr indent="0" marL="0">
                        <a:buNone/>
                      </a:pPr>
                      <a:r>
                        <a:rPr lang="en-US" sz="1100" dirty="0">
                          <a:solidFill>
                            <a:srgbClr val="1E2D3D"/>
                          </a:solidFill>
                          <a:latin typeface="Calibri" pitchFamily="34" charset="0"/>
                          <a:ea typeface="Calibri" pitchFamily="34" charset="-122"/>
                          <a:cs typeface="Calibri" pitchFamily="34" charset="-120"/>
                        </a:rPr>
                        <a:t>AC/DC ratio</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100" dirty="0">
                          <a:solidFill>
                            <a:srgbClr val="1E2D3D"/>
                          </a:solidFill>
                          <a:latin typeface="Calibri" pitchFamily="34" charset="0"/>
                          <a:ea typeface="Calibri" pitchFamily="34" charset="-122"/>
                          <a:cs typeface="Calibri" pitchFamily="34" charset="-120"/>
                        </a:rPr>
                        <a:t>0.098</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100" dirty="0">
                          <a:solidFill>
                            <a:srgbClr val="1E2D3D"/>
                          </a:solidFill>
                          <a:latin typeface="Calibri" pitchFamily="34" charset="0"/>
                          <a:ea typeface="Calibri" pitchFamily="34" charset="-122"/>
                          <a:cs typeface="Calibri" pitchFamily="34" charset="-120"/>
                        </a:rPr>
                        <a:t>0.977</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r h="304800">
                <a:tc>
                  <a:txBody>
                    <a:bodyPr/>
                    <a:lstStyle/>
                    <a:p>
                      <a:pPr indent="0" marL="0">
                        <a:buNone/>
                      </a:pPr>
                      <a:r>
                        <a:rPr lang="en-US" sz="1100" dirty="0">
                          <a:solidFill>
                            <a:srgbClr val="1E2D3D"/>
                          </a:solidFill>
                          <a:latin typeface="Calibri" pitchFamily="34" charset="0"/>
                          <a:ea typeface="Calibri" pitchFamily="34" charset="-122"/>
                          <a:cs typeface="Calibri" pitchFamily="34" charset="-120"/>
                        </a:rPr>
                        <a:t>Physically OK?</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100" dirty="0">
                          <a:solidFill>
                            <a:srgbClr val="1E2D3D"/>
                          </a:solidFill>
                          <a:latin typeface="Calibri" pitchFamily="34" charset="0"/>
                          <a:ea typeface="Calibri" pitchFamily="34" charset="-122"/>
                          <a:cs typeface="Calibri" pitchFamily="34" charset="-120"/>
                        </a:rPr>
                        <a:t>No  ✗</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100" dirty="0">
                          <a:solidFill>
                            <a:srgbClr val="1E2D3D"/>
                          </a:solidFill>
                          <a:latin typeface="Calibri" pitchFamily="34" charset="0"/>
                          <a:ea typeface="Calibri" pitchFamily="34" charset="-122"/>
                          <a:cs typeface="Calibri" pitchFamily="34" charset="-120"/>
                        </a:rPr>
                        <a:t>Yes ✓</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bl>
          </a:graphicData>
        </a:graphic>
      </p:graphicFrame>
      <p:pic>
        <p:nvPicPr>
          <p:cNvPr id="10" name="Image 1" descr="preencoded.png">    </p:cNvPr>
          <p:cNvPicPr>
            <a:picLocks noChangeAspect="1"/>
          </p:cNvPicPr>
          <p:nvPr/>
        </p:nvPicPr>
        <p:blipFill>
          <a:blip r:embed="rId2"/>
          <a:stretch>
            <a:fillRect/>
          </a:stretch>
        </p:blipFill>
        <p:spPr>
          <a:xfrm>
            <a:off x="658368" y="4224528"/>
            <a:ext cx="237744" cy="237744"/>
          </a:xfrm>
          <a:prstGeom prst="rect">
            <a:avLst/>
          </a:prstGeom>
        </p:spPr>
      </p:pic>
      <p:sp>
        <p:nvSpPr>
          <p:cNvPr id="11" name="Text 6"/>
          <p:cNvSpPr/>
          <p:nvPr/>
        </p:nvSpPr>
        <p:spPr>
          <a:xfrm>
            <a:off x="969264" y="4224528"/>
            <a:ext cx="3474720" cy="274320"/>
          </a:xfrm>
          <a:prstGeom prst="rect">
            <a:avLst/>
          </a:prstGeom>
          <a:noFill/>
          <a:ln/>
        </p:spPr>
        <p:txBody>
          <a:bodyPr wrap="square" lIns="0" tIns="0" rIns="0" bIns="0" rtlCol="0" anchor="ctr"/>
          <a:lstStyle/>
          <a:p>
            <a:pPr indent="0" marL="0">
              <a:buNone/>
            </a:pPr>
            <a:r>
              <a:rPr lang="en-US" sz="1100" i="1" dirty="0">
                <a:solidFill>
                  <a:srgbClr val="1D9E75"/>
                </a:solidFill>
                <a:latin typeface="Calibri" pitchFamily="34" charset="0"/>
                <a:ea typeface="Calibri" pitchFamily="34" charset="-122"/>
                <a:cs typeface="Calibri" pitchFamily="34" charset="-120"/>
              </a:rPr>
              <a:t>Fix: divided Plant 1 DC_POWER by 10.22</a:t>
            </a:r>
            <a:endParaRPr lang="en-US" sz="1100" dirty="0"/>
          </a:p>
        </p:txBody>
      </p:sp>
      <p:sp>
        <p:nvSpPr>
          <p:cNvPr id="12" name="Shape 7"/>
          <p:cNvSpPr/>
          <p:nvPr/>
        </p:nvSpPr>
        <p:spPr>
          <a:xfrm>
            <a:off x="4773168" y="1097280"/>
            <a:ext cx="3913632" cy="3566160"/>
          </a:xfrm>
          <a:prstGeom prst="rect">
            <a:avLst/>
          </a:prstGeom>
          <a:solidFill>
            <a:srgbClr val="FFFFFF"/>
          </a:solidFill>
          <a:ln w="6350">
            <a:solidFill>
              <a:srgbClr val="DDE3EC"/>
            </a:solidFill>
            <a:prstDash val="solid"/>
          </a:ln>
          <a:effectLst>
            <a:outerShdw sx="100000" sy="100000" kx="0" ky="0" algn="bl" rotWithShape="0" blurRad="127000" dist="38100" dir="8100000">
              <a:srgbClr val="000000">
                <a:alpha val="6000"/>
              </a:srgbClr>
            </a:outerShdw>
          </a:effectLst>
        </p:spPr>
      </p:sp>
      <p:sp>
        <p:nvSpPr>
          <p:cNvPr id="13" name="Shape 8"/>
          <p:cNvSpPr/>
          <p:nvPr/>
        </p:nvSpPr>
        <p:spPr>
          <a:xfrm>
            <a:off x="4773168" y="1097280"/>
            <a:ext cx="64008" cy="3566160"/>
          </a:xfrm>
          <a:prstGeom prst="rect">
            <a:avLst/>
          </a:prstGeom>
          <a:solidFill>
            <a:srgbClr val="F4A726"/>
          </a:solidFill>
          <a:ln w="12700">
            <a:solidFill>
              <a:srgbClr val="F4A726"/>
            </a:solidFill>
            <a:prstDash val="solid"/>
          </a:ln>
        </p:spPr>
      </p:sp>
      <p:pic>
        <p:nvPicPr>
          <p:cNvPr id="14" name="Image 2" descr="preencoded.png">    </p:cNvPr>
          <p:cNvPicPr>
            <a:picLocks noChangeAspect="1"/>
          </p:cNvPicPr>
          <p:nvPr/>
        </p:nvPicPr>
        <p:blipFill>
          <a:blip r:embed="rId3"/>
          <a:stretch>
            <a:fillRect/>
          </a:stretch>
        </p:blipFill>
        <p:spPr>
          <a:xfrm>
            <a:off x="4956048" y="1188720"/>
            <a:ext cx="384048" cy="384048"/>
          </a:xfrm>
          <a:prstGeom prst="rect">
            <a:avLst/>
          </a:prstGeom>
        </p:spPr>
      </p:pic>
      <p:sp>
        <p:nvSpPr>
          <p:cNvPr id="15" name="Text 9"/>
          <p:cNvSpPr/>
          <p:nvPr/>
        </p:nvSpPr>
        <p:spPr>
          <a:xfrm>
            <a:off x="5440680" y="1170432"/>
            <a:ext cx="3108960" cy="365760"/>
          </a:xfrm>
          <a:prstGeom prst="rect">
            <a:avLst/>
          </a:prstGeom>
          <a:noFill/>
          <a:ln/>
        </p:spPr>
        <p:txBody>
          <a:bodyPr wrap="square" lIns="0" tIns="0" rIns="0" bIns="0" rtlCol="0" anchor="ctr"/>
          <a:lstStyle/>
          <a:p>
            <a:pPr indent="0" marL="0">
              <a:buNone/>
            </a:pPr>
            <a:r>
              <a:rPr lang="en-US" sz="1400" b="1" dirty="0">
                <a:solidFill>
                  <a:srgbClr val="F4A726"/>
                </a:solidFill>
                <a:latin typeface="Calibri" pitchFamily="34" charset="0"/>
                <a:ea typeface="Calibri" pitchFamily="34" charset="-122"/>
                <a:cs typeface="Calibri" pitchFamily="34" charset="-120"/>
              </a:rPr>
              <a:t>Bug #2 · Counter Overflow</a:t>
            </a:r>
            <a:endParaRPr lang="en-US" sz="1400" dirty="0"/>
          </a:p>
        </p:txBody>
      </p:sp>
      <p:sp>
        <p:nvSpPr>
          <p:cNvPr id="16" name="Text 10"/>
          <p:cNvSpPr/>
          <p:nvPr/>
        </p:nvSpPr>
        <p:spPr>
          <a:xfrm>
            <a:off x="4956048" y="1664208"/>
            <a:ext cx="3566160" cy="1417320"/>
          </a:xfrm>
          <a:prstGeom prst="rect">
            <a:avLst/>
          </a:prstGeom>
          <a:noFill/>
          <a:ln/>
        </p:spPr>
        <p:txBody>
          <a:bodyPr wrap="square" rtlCol="0" anchor="ctr"/>
          <a:lstStyle/>
          <a:p>
            <a:pPr marL="342900" indent="-342900">
              <a:spcAft>
                <a:spcPts val="500"/>
              </a:spcAft>
              <a:buSzPct val="100000"/>
              <a:buChar char="•"/>
            </a:pPr>
            <a:r>
              <a:rPr lang="en-US" sz="1200" dirty="0">
                <a:solidFill>
                  <a:srgbClr val="1E2D3D"/>
                </a:solidFill>
                <a:latin typeface="Calibri" pitchFamily="34" charset="0"/>
                <a:ea typeface="Calibri" pitchFamily="34" charset="-122"/>
                <a:cs typeface="Calibri" pitchFamily="34" charset="-120"/>
              </a:rPr>
              <a:t>Plant 2 TOTAL_YIELD max = 2.24 billion</a:t>
            </a:r>
            <a:endParaRPr lang="en-US" sz="1200" dirty="0"/>
          </a:p>
          <a:p>
            <a:pPr marL="342900" indent="-342900">
              <a:spcAft>
                <a:spcPts val="500"/>
              </a:spcAft>
              <a:buSzPct val="100000"/>
              <a:buChar char="•"/>
            </a:pPr>
            <a:r>
              <a:rPr lang="en-US" sz="1200" dirty="0">
                <a:solidFill>
                  <a:srgbClr val="1E2D3D"/>
                </a:solidFill>
                <a:latin typeface="Calibri" pitchFamily="34" charset="0"/>
                <a:ea typeface="Calibri" pitchFamily="34" charset="-122"/>
                <a:cs typeface="Calibri" pitchFamily="34" charset="-120"/>
              </a:rPr>
              <a:t>Plant 1 max = only 7.8 million (same sensor)</a:t>
            </a:r>
            <a:endParaRPr lang="en-US" sz="1200" dirty="0"/>
          </a:p>
          <a:p>
            <a:pPr marL="342900" indent="-342900">
              <a:spcAft>
                <a:spcPts val="500"/>
              </a:spcAft>
              <a:buSzPct val="100000"/>
              <a:buChar char="•"/>
            </a:pPr>
            <a:r>
              <a:rPr lang="en-US" sz="1200" dirty="0">
                <a:solidFill>
                  <a:srgbClr val="1E2D3D"/>
                </a:solidFill>
                <a:latin typeface="Calibri" pitchFamily="34" charset="0"/>
                <a:ea typeface="Calibri" pitchFamily="34" charset="-122"/>
                <a:cs typeface="Calibri" pitchFamily="34" charset="-120"/>
              </a:rPr>
              <a:t>Affects 16 of 22 inverters</a:t>
            </a:r>
            <a:endParaRPr lang="en-US" sz="1200" dirty="0"/>
          </a:p>
          <a:p>
            <a:pPr marL="342900" indent="-342900">
              <a:spcAft>
                <a:spcPts val="500"/>
              </a:spcAft>
              <a:buSzPct val="100000"/>
              <a:buChar char="•"/>
            </a:pPr>
            <a:r>
              <a:rPr lang="en-US" sz="1200" dirty="0">
                <a:solidFill>
                  <a:srgbClr val="1E2D3D"/>
                </a:solidFill>
                <a:latin typeface="Calibri" pitchFamily="34" charset="0"/>
                <a:ea typeface="Calibri" pitchFamily="34" charset="-122"/>
                <a:cs typeface="Calibri" pitchFamily="34" charset="-120"/>
              </a:rPr>
              <a:t>→ Data logger counter reset / overflow bug</a:t>
            </a:r>
            <a:endParaRPr lang="en-US" sz="12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4956048" y="3182112"/>
          <a:ext cx="3566160" cy="914400"/>
        </p:xfrm>
        <a:graphic>
          <a:graphicData uri="http://schemas.openxmlformats.org/drawingml/2006/table">
            <a:tbl>
              <a:tblPr/>
              <a:tblGrid>
                <a:gridCol w="1188720"/>
                <a:gridCol w="1188720"/>
                <a:gridCol w="1188720"/>
              </a:tblGrid>
              <a:tr h="304800">
                <a:tc>
                  <a:txBody>
                    <a:bodyPr/>
                    <a:lstStyle/>
                    <a:p>
                      <a:pPr indent="0" marL="0">
                        <a:buNone/>
                      </a:pP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EEF1F6"/>
                    </a:solidFill>
                  </a:tcPr>
                </a:tc>
                <a:tc>
                  <a:txBody>
                    <a:bodyPr/>
                    <a:lstStyle/>
                    <a:p>
                      <a:pPr indent="0" marL="0">
                        <a:buNone/>
                      </a:pPr>
                      <a:r>
                        <a:rPr lang="en-US" sz="1100" b="1" dirty="0">
                          <a:solidFill>
                            <a:srgbClr val="1E2D3D"/>
                          </a:solidFill>
                          <a:latin typeface="Calibri" pitchFamily="34" charset="0"/>
                          <a:ea typeface="Calibri" pitchFamily="34" charset="-122"/>
                          <a:cs typeface="Calibri" pitchFamily="34" charset="-120"/>
                        </a:rPr>
                        <a:t>Plant 1</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EEF1F6"/>
                    </a:solidFill>
                  </a:tcPr>
                </a:tc>
                <a:tc>
                  <a:txBody>
                    <a:bodyPr/>
                    <a:lstStyle/>
                    <a:p>
                      <a:pPr indent="0" marL="0">
                        <a:buNone/>
                      </a:pPr>
                      <a:r>
                        <a:rPr lang="en-US" sz="1100" b="1" dirty="0">
                          <a:solidFill>
                            <a:srgbClr val="D94040"/>
                          </a:solidFill>
                          <a:latin typeface="Calibri" pitchFamily="34" charset="0"/>
                          <a:ea typeface="Calibri" pitchFamily="34" charset="-122"/>
                          <a:cs typeface="Calibri" pitchFamily="34" charset="-120"/>
                        </a:rPr>
                        <a:t>Plant 2</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EEF1F6"/>
                    </a:solidFill>
                  </a:tcPr>
                </a:tc>
              </a:tr>
              <a:tr h="304800">
                <a:tc>
                  <a:txBody>
                    <a:bodyPr/>
                    <a:lstStyle/>
                    <a:p>
                      <a:pPr indent="0" marL="0">
                        <a:buNone/>
                      </a:pPr>
                      <a:r>
                        <a:rPr lang="en-US" sz="1100" dirty="0">
                          <a:solidFill>
                            <a:srgbClr val="1E2D3D"/>
                          </a:solidFill>
                          <a:latin typeface="Calibri" pitchFamily="34" charset="0"/>
                          <a:ea typeface="Calibri" pitchFamily="34" charset="-122"/>
                          <a:cs typeface="Calibri" pitchFamily="34" charset="-120"/>
                        </a:rPr>
                        <a:t>Max TOTAL_YIELD</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100" dirty="0">
                          <a:solidFill>
                            <a:srgbClr val="1E2D3D"/>
                          </a:solidFill>
                          <a:latin typeface="Calibri" pitchFamily="34" charset="0"/>
                          <a:ea typeface="Calibri" pitchFamily="34" charset="-122"/>
                          <a:cs typeface="Calibri" pitchFamily="34" charset="-120"/>
                        </a:rPr>
                        <a:t>7.8 M</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100" dirty="0">
                          <a:solidFill>
                            <a:srgbClr val="1E2D3D"/>
                          </a:solidFill>
                          <a:latin typeface="Calibri" pitchFamily="34" charset="0"/>
                          <a:ea typeface="Calibri" pitchFamily="34" charset="-122"/>
                          <a:cs typeface="Calibri" pitchFamily="34" charset="-120"/>
                        </a:rPr>
                        <a:t>2.24 B  ✗</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r h="304800">
                <a:tc>
                  <a:txBody>
                    <a:bodyPr/>
                    <a:lstStyle/>
                    <a:p>
                      <a:pPr indent="0" marL="0">
                        <a:buNone/>
                      </a:pPr>
                      <a:r>
                        <a:rPr lang="en-US" sz="1100" dirty="0">
                          <a:solidFill>
                            <a:srgbClr val="1E2D3D"/>
                          </a:solidFill>
                          <a:latin typeface="Calibri" pitchFamily="34" charset="0"/>
                          <a:ea typeface="Calibri" pitchFamily="34" charset="-122"/>
                          <a:cs typeface="Calibri" pitchFamily="34" charset="-120"/>
                        </a:rPr>
                        <a:t>Usable?</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100" dirty="0">
                          <a:solidFill>
                            <a:srgbClr val="1E2D3D"/>
                          </a:solidFill>
                          <a:latin typeface="Calibri" pitchFamily="34" charset="0"/>
                          <a:ea typeface="Calibri" pitchFamily="34" charset="-122"/>
                          <a:cs typeface="Calibri" pitchFamily="34" charset="-120"/>
                        </a:rPr>
                        <a:t>Yes  ✓</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100" dirty="0">
                          <a:solidFill>
                            <a:srgbClr val="1E2D3D"/>
                          </a:solidFill>
                          <a:latin typeface="Calibri" pitchFamily="34" charset="0"/>
                          <a:ea typeface="Calibri" pitchFamily="34" charset="-122"/>
                          <a:cs typeface="Calibri" pitchFamily="34" charset="-120"/>
                        </a:rPr>
                        <a:t>No  ✗</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bl>
          </a:graphicData>
        </a:graphic>
      </p:graphicFrame>
      <p:pic>
        <p:nvPicPr>
          <p:cNvPr id="18" name="Image 3" descr="preencoded.png">    </p:cNvPr>
          <p:cNvPicPr>
            <a:picLocks noChangeAspect="1"/>
          </p:cNvPicPr>
          <p:nvPr/>
        </p:nvPicPr>
        <p:blipFill>
          <a:blip r:embed="rId4"/>
          <a:stretch>
            <a:fillRect/>
          </a:stretch>
        </p:blipFill>
        <p:spPr>
          <a:xfrm>
            <a:off x="4956048" y="4224528"/>
            <a:ext cx="237744" cy="237744"/>
          </a:xfrm>
          <a:prstGeom prst="rect">
            <a:avLst/>
          </a:prstGeom>
        </p:spPr>
      </p:pic>
      <p:sp>
        <p:nvSpPr>
          <p:cNvPr id="19" name="Text 11"/>
          <p:cNvSpPr/>
          <p:nvPr/>
        </p:nvSpPr>
        <p:spPr>
          <a:xfrm>
            <a:off x="5266944" y="4224528"/>
            <a:ext cx="3383280" cy="274320"/>
          </a:xfrm>
          <a:prstGeom prst="rect">
            <a:avLst/>
          </a:prstGeom>
          <a:noFill/>
          <a:ln/>
        </p:spPr>
        <p:txBody>
          <a:bodyPr wrap="square" lIns="0" tIns="0" rIns="0" bIns="0" rtlCol="0" anchor="ctr"/>
          <a:lstStyle/>
          <a:p>
            <a:pPr indent="0" marL="0">
              <a:buNone/>
            </a:pPr>
            <a:r>
              <a:rPr lang="en-US" sz="1100" i="1" dirty="0">
                <a:solidFill>
                  <a:srgbClr val="1D9E75"/>
                </a:solidFill>
                <a:latin typeface="Calibri" pitchFamily="34" charset="0"/>
                <a:ea typeface="Calibri" pitchFamily="34" charset="-122"/>
                <a:cs typeface="Calibri" pitchFamily="34" charset="-120"/>
              </a:rPr>
              <a:t>Fix: used DAILY_YIELD instead (unaffected)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164592"/>
            <a:ext cx="8229600" cy="201168"/>
          </a:xfrm>
          <a:prstGeom prst="rect">
            <a:avLst/>
          </a:prstGeom>
          <a:noFill/>
          <a:ln/>
        </p:spPr>
        <p:txBody>
          <a:bodyPr wrap="square" lIns="0" tIns="0" rIns="0" bIns="0" rtlCol="0" anchor="ctr"/>
          <a:lstStyle/>
          <a:p>
            <a:pPr algn="l" indent="0" marL="0">
              <a:buNone/>
            </a:pPr>
            <a:r>
              <a:rPr lang="en-US" sz="850" b="1" spc="300" kern="0" dirty="0">
                <a:solidFill>
                  <a:srgbClr val="F4A726"/>
                </a:solidFill>
                <a:latin typeface="Calibri" pitchFamily="34" charset="0"/>
                <a:ea typeface="Calibri" pitchFamily="34" charset="-122"/>
                <a:cs typeface="Calibri" pitchFamily="34" charset="-120"/>
              </a:rPr>
              <a:t>EXPLORATORY DATA ANALYSIS</a:t>
            </a:r>
            <a:endParaRPr lang="en-US" sz="850" dirty="0"/>
          </a:p>
        </p:txBody>
      </p:sp>
      <p:sp>
        <p:nvSpPr>
          <p:cNvPr id="3" name="Text 1"/>
          <p:cNvSpPr/>
          <p:nvPr/>
        </p:nvSpPr>
        <p:spPr>
          <a:xfrm>
            <a:off x="457200" y="384048"/>
            <a:ext cx="8229600" cy="594360"/>
          </a:xfrm>
          <a:prstGeom prst="rect">
            <a:avLst/>
          </a:prstGeom>
          <a:noFill/>
          <a:ln/>
        </p:spPr>
        <p:txBody>
          <a:bodyPr wrap="square" lIns="0" tIns="0" rIns="0" bIns="0" rtlCol="0" anchor="ctr"/>
          <a:lstStyle/>
          <a:p>
            <a:pPr algn="l" indent="0" marL="0">
              <a:buNone/>
            </a:pPr>
            <a:r>
              <a:rPr lang="en-US" sz="3000" b="1" dirty="0">
                <a:solidFill>
                  <a:srgbClr val="1B2B3B"/>
                </a:solidFill>
                <a:latin typeface="Calibri" pitchFamily="34" charset="0"/>
                <a:ea typeface="Calibri" pitchFamily="34" charset="-122"/>
                <a:cs typeface="Calibri" pitchFamily="34" charset="-120"/>
              </a:rPr>
              <a:t>Patterns We Found in the Data</a:t>
            </a:r>
            <a:endParaRPr lang="en-US" sz="3000" dirty="0"/>
          </a:p>
        </p:txBody>
      </p:sp>
      <p:sp>
        <p:nvSpPr>
          <p:cNvPr id="4" name="Shape 2"/>
          <p:cNvSpPr/>
          <p:nvPr/>
        </p:nvSpPr>
        <p:spPr>
          <a:xfrm>
            <a:off x="457200" y="1097280"/>
            <a:ext cx="4023360" cy="1554480"/>
          </a:xfrm>
          <a:prstGeom prst="rect">
            <a:avLst/>
          </a:prstGeom>
          <a:solidFill>
            <a:srgbClr val="E0F4F7"/>
          </a:solidFill>
          <a:ln w="6350">
            <a:solidFill>
              <a:srgbClr val="DDE3EC"/>
            </a:solidFill>
            <a:prstDash val="solid"/>
          </a:ln>
          <a:effectLst>
            <a:outerShdw sx="100000" sy="100000" kx="0" ky="0" algn="bl" rotWithShape="0" blurRad="127000" dist="38100" dir="8100000">
              <a:srgbClr val="000000">
                <a:alpha val="6000"/>
              </a:srgbClr>
            </a:outerShdw>
          </a:effectLst>
        </p:spPr>
      </p:sp>
      <p:sp>
        <p:nvSpPr>
          <p:cNvPr id="5" name="Shape 3"/>
          <p:cNvSpPr/>
          <p:nvPr/>
        </p:nvSpPr>
        <p:spPr>
          <a:xfrm>
            <a:off x="457200" y="1097280"/>
            <a:ext cx="64008" cy="1554480"/>
          </a:xfrm>
          <a:prstGeom prst="rect">
            <a:avLst/>
          </a:prstGeom>
          <a:solidFill>
            <a:srgbClr val="0D7C8F"/>
          </a:solidFill>
          <a:ln w="12700">
            <a:solidFill>
              <a:srgbClr val="0D7C8F"/>
            </a:solidFill>
            <a:prstDash val="solid"/>
          </a:ln>
        </p:spPr>
      </p:sp>
      <p:pic>
        <p:nvPicPr>
          <p:cNvPr id="6" name="Image 0" descr="preencoded.png">    </p:cNvPr>
          <p:cNvPicPr>
            <a:picLocks noChangeAspect="1"/>
          </p:cNvPicPr>
          <p:nvPr/>
        </p:nvPicPr>
        <p:blipFill>
          <a:blip r:embed="rId1"/>
          <a:stretch>
            <a:fillRect/>
          </a:stretch>
        </p:blipFill>
        <p:spPr>
          <a:xfrm>
            <a:off x="640080" y="1673352"/>
            <a:ext cx="384048" cy="384048"/>
          </a:xfrm>
          <a:prstGeom prst="rect">
            <a:avLst/>
          </a:prstGeom>
        </p:spPr>
      </p:pic>
      <p:sp>
        <p:nvSpPr>
          <p:cNvPr id="7" name="Text 4"/>
          <p:cNvSpPr/>
          <p:nvPr/>
        </p:nvSpPr>
        <p:spPr>
          <a:xfrm>
            <a:off x="640080" y="1280160"/>
            <a:ext cx="3657600" cy="347472"/>
          </a:xfrm>
          <a:prstGeom prst="rect">
            <a:avLst/>
          </a:prstGeom>
          <a:noFill/>
          <a:ln/>
        </p:spPr>
        <p:txBody>
          <a:bodyPr wrap="square" lIns="0" tIns="0" rIns="0" bIns="0" rtlCol="0" anchor="ctr"/>
          <a:lstStyle/>
          <a:p>
            <a:pPr indent="0" marL="0">
              <a:buNone/>
            </a:pPr>
            <a:r>
              <a:rPr lang="en-US" sz="1350" b="1" dirty="0">
                <a:solidFill>
                  <a:srgbClr val="1E2D3D"/>
                </a:solidFill>
                <a:latin typeface="Calibri" pitchFamily="34" charset="0"/>
                <a:ea typeface="Calibri" pitchFamily="34" charset="-122"/>
                <a:cs typeface="Calibri" pitchFamily="34" charset="-120"/>
              </a:rPr>
              <a:t>Radiation is king</a:t>
            </a:r>
            <a:endParaRPr lang="en-US" sz="1350" dirty="0"/>
          </a:p>
        </p:txBody>
      </p:sp>
      <p:sp>
        <p:nvSpPr>
          <p:cNvPr id="8" name="Text 5"/>
          <p:cNvSpPr/>
          <p:nvPr/>
        </p:nvSpPr>
        <p:spPr>
          <a:xfrm>
            <a:off x="1143000" y="1673352"/>
            <a:ext cx="3200400" cy="7772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Strongest predictor — near-linear relationship with AC output</a:t>
            </a:r>
            <a:endParaRPr lang="en-US" sz="1150" dirty="0"/>
          </a:p>
        </p:txBody>
      </p:sp>
      <p:sp>
        <p:nvSpPr>
          <p:cNvPr id="9" name="Shape 6"/>
          <p:cNvSpPr/>
          <p:nvPr/>
        </p:nvSpPr>
        <p:spPr>
          <a:xfrm>
            <a:off x="4663440" y="1097280"/>
            <a:ext cx="4023360" cy="1554480"/>
          </a:xfrm>
          <a:prstGeom prst="rect">
            <a:avLst/>
          </a:prstGeom>
          <a:solidFill>
            <a:srgbClr val="FEF3DC"/>
          </a:solidFill>
          <a:ln w="6350">
            <a:solidFill>
              <a:srgbClr val="DDE3EC"/>
            </a:solidFill>
            <a:prstDash val="solid"/>
          </a:ln>
          <a:effectLst>
            <a:outerShdw sx="100000" sy="100000" kx="0" ky="0" algn="bl" rotWithShape="0" blurRad="127000" dist="38100" dir="8100000">
              <a:srgbClr val="000000">
                <a:alpha val="6000"/>
              </a:srgbClr>
            </a:outerShdw>
          </a:effectLst>
        </p:spPr>
      </p:sp>
      <p:sp>
        <p:nvSpPr>
          <p:cNvPr id="10" name="Shape 7"/>
          <p:cNvSpPr/>
          <p:nvPr/>
        </p:nvSpPr>
        <p:spPr>
          <a:xfrm>
            <a:off x="4663440" y="1097280"/>
            <a:ext cx="64008" cy="1554480"/>
          </a:xfrm>
          <a:prstGeom prst="rect">
            <a:avLst/>
          </a:prstGeom>
          <a:solidFill>
            <a:srgbClr val="F4A726"/>
          </a:solidFill>
          <a:ln w="12700">
            <a:solidFill>
              <a:srgbClr val="F4A726"/>
            </a:solidFill>
            <a:prstDash val="solid"/>
          </a:ln>
        </p:spPr>
      </p:sp>
      <p:pic>
        <p:nvPicPr>
          <p:cNvPr id="11" name="Image 1" descr="preencoded.png">    </p:cNvPr>
          <p:cNvPicPr>
            <a:picLocks noChangeAspect="1"/>
          </p:cNvPicPr>
          <p:nvPr/>
        </p:nvPicPr>
        <p:blipFill>
          <a:blip r:embed="rId2"/>
          <a:stretch>
            <a:fillRect/>
          </a:stretch>
        </p:blipFill>
        <p:spPr>
          <a:xfrm>
            <a:off x="4846320" y="1673352"/>
            <a:ext cx="384048" cy="384048"/>
          </a:xfrm>
          <a:prstGeom prst="rect">
            <a:avLst/>
          </a:prstGeom>
        </p:spPr>
      </p:pic>
      <p:sp>
        <p:nvSpPr>
          <p:cNvPr id="12" name="Text 8"/>
          <p:cNvSpPr/>
          <p:nvPr/>
        </p:nvSpPr>
        <p:spPr>
          <a:xfrm>
            <a:off x="4846320" y="1280160"/>
            <a:ext cx="3657600" cy="347472"/>
          </a:xfrm>
          <a:prstGeom prst="rect">
            <a:avLst/>
          </a:prstGeom>
          <a:noFill/>
          <a:ln/>
        </p:spPr>
        <p:txBody>
          <a:bodyPr wrap="square" lIns="0" tIns="0" rIns="0" bIns="0" rtlCol="0" anchor="ctr"/>
          <a:lstStyle/>
          <a:p>
            <a:pPr indent="0" marL="0">
              <a:buNone/>
            </a:pPr>
            <a:r>
              <a:rPr lang="en-US" sz="1350" b="1" dirty="0">
                <a:solidFill>
                  <a:srgbClr val="1E2D3D"/>
                </a:solidFill>
                <a:latin typeface="Calibri" pitchFamily="34" charset="0"/>
                <a:ea typeface="Calibri" pitchFamily="34" charset="-122"/>
                <a:cs typeface="Calibri" pitchFamily="34" charset="-120"/>
              </a:rPr>
              <a:t>Bell curve every day</a:t>
            </a:r>
            <a:endParaRPr lang="en-US" sz="1350" dirty="0"/>
          </a:p>
        </p:txBody>
      </p:sp>
      <p:sp>
        <p:nvSpPr>
          <p:cNvPr id="13" name="Text 9"/>
          <p:cNvSpPr/>
          <p:nvPr/>
        </p:nvSpPr>
        <p:spPr>
          <a:xfrm>
            <a:off x="5349240" y="1673352"/>
            <a:ext cx="3200400" cy="7772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Output peaks 10am–2pm and falls symmetrically — same pattern both plants</a:t>
            </a:r>
            <a:endParaRPr lang="en-US" sz="1150" dirty="0"/>
          </a:p>
        </p:txBody>
      </p:sp>
      <p:sp>
        <p:nvSpPr>
          <p:cNvPr id="14" name="Shape 10"/>
          <p:cNvSpPr/>
          <p:nvPr/>
        </p:nvSpPr>
        <p:spPr>
          <a:xfrm>
            <a:off x="457200" y="2834640"/>
            <a:ext cx="4023360" cy="1554480"/>
          </a:xfrm>
          <a:prstGeom prst="rect">
            <a:avLst/>
          </a:prstGeom>
          <a:solidFill>
            <a:srgbClr val="EEF1F6"/>
          </a:solidFill>
          <a:ln w="6350">
            <a:solidFill>
              <a:srgbClr val="DDE3EC"/>
            </a:solidFill>
            <a:prstDash val="solid"/>
          </a:ln>
          <a:effectLst>
            <a:outerShdw sx="100000" sy="100000" kx="0" ky="0" algn="bl" rotWithShape="0" blurRad="127000" dist="38100" dir="8100000">
              <a:srgbClr val="000000">
                <a:alpha val="6000"/>
              </a:srgbClr>
            </a:outerShdw>
          </a:effectLst>
        </p:spPr>
      </p:sp>
      <p:sp>
        <p:nvSpPr>
          <p:cNvPr id="15" name="Shape 11"/>
          <p:cNvSpPr/>
          <p:nvPr/>
        </p:nvSpPr>
        <p:spPr>
          <a:xfrm>
            <a:off x="457200" y="2834640"/>
            <a:ext cx="64008" cy="1554480"/>
          </a:xfrm>
          <a:prstGeom prst="rect">
            <a:avLst/>
          </a:prstGeom>
          <a:solidFill>
            <a:srgbClr val="1B2B3B"/>
          </a:solidFill>
          <a:ln w="12700">
            <a:solidFill>
              <a:srgbClr val="1B2B3B"/>
            </a:solidFill>
            <a:prstDash val="solid"/>
          </a:ln>
        </p:spPr>
      </p:sp>
      <p:pic>
        <p:nvPicPr>
          <p:cNvPr id="16" name="Image 2" descr="preencoded.png">    </p:cNvPr>
          <p:cNvPicPr>
            <a:picLocks noChangeAspect="1"/>
          </p:cNvPicPr>
          <p:nvPr/>
        </p:nvPicPr>
        <p:blipFill>
          <a:blip r:embed="rId3"/>
          <a:stretch>
            <a:fillRect/>
          </a:stretch>
        </p:blipFill>
        <p:spPr>
          <a:xfrm>
            <a:off x="640080" y="3410712"/>
            <a:ext cx="384048" cy="384048"/>
          </a:xfrm>
          <a:prstGeom prst="rect">
            <a:avLst/>
          </a:prstGeom>
        </p:spPr>
      </p:pic>
      <p:sp>
        <p:nvSpPr>
          <p:cNvPr id="17" name="Text 12"/>
          <p:cNvSpPr/>
          <p:nvPr/>
        </p:nvSpPr>
        <p:spPr>
          <a:xfrm>
            <a:off x="640080" y="3017520"/>
            <a:ext cx="3657600" cy="347472"/>
          </a:xfrm>
          <a:prstGeom prst="rect">
            <a:avLst/>
          </a:prstGeom>
          <a:noFill/>
          <a:ln/>
        </p:spPr>
        <p:txBody>
          <a:bodyPr wrap="square" lIns="0" tIns="0" rIns="0" bIns="0" rtlCol="0" anchor="ctr"/>
          <a:lstStyle/>
          <a:p>
            <a:pPr indent="0" marL="0">
              <a:buNone/>
            </a:pPr>
            <a:r>
              <a:rPr lang="en-US" sz="1350" b="1" dirty="0">
                <a:solidFill>
                  <a:srgbClr val="1E2D3D"/>
                </a:solidFill>
                <a:latin typeface="Calibri" pitchFamily="34" charset="0"/>
                <a:ea typeface="Calibri" pitchFamily="34" charset="-122"/>
                <a:cs typeface="Calibri" pitchFamily="34" charset="-120"/>
              </a:rPr>
              <a:t>Inverter variance</a:t>
            </a:r>
            <a:endParaRPr lang="en-US" sz="1350" dirty="0"/>
          </a:p>
        </p:txBody>
      </p:sp>
      <p:sp>
        <p:nvSpPr>
          <p:cNvPr id="18" name="Text 13"/>
          <p:cNvSpPr/>
          <p:nvPr/>
        </p:nvSpPr>
        <p:spPr>
          <a:xfrm>
            <a:off x="1143000" y="3410712"/>
            <a:ext cx="3200400" cy="7772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Some inverters consistently yield less than their neighbours under same weather</a:t>
            </a:r>
            <a:endParaRPr lang="en-US" sz="1150" dirty="0"/>
          </a:p>
        </p:txBody>
      </p:sp>
      <p:sp>
        <p:nvSpPr>
          <p:cNvPr id="19" name="Shape 14"/>
          <p:cNvSpPr/>
          <p:nvPr/>
        </p:nvSpPr>
        <p:spPr>
          <a:xfrm>
            <a:off x="4663440" y="2834640"/>
            <a:ext cx="4023360" cy="1554480"/>
          </a:xfrm>
          <a:prstGeom prst="rect">
            <a:avLst/>
          </a:prstGeom>
          <a:solidFill>
            <a:srgbClr val="FDEAEA"/>
          </a:solidFill>
          <a:ln w="6350">
            <a:solidFill>
              <a:srgbClr val="DDE3EC"/>
            </a:solidFill>
            <a:prstDash val="solid"/>
          </a:ln>
          <a:effectLst>
            <a:outerShdw sx="100000" sy="100000" kx="0" ky="0" algn="bl" rotWithShape="0" blurRad="127000" dist="38100" dir="8100000">
              <a:srgbClr val="000000">
                <a:alpha val="6000"/>
              </a:srgbClr>
            </a:outerShdw>
          </a:effectLst>
        </p:spPr>
      </p:sp>
      <p:sp>
        <p:nvSpPr>
          <p:cNvPr id="20" name="Shape 15"/>
          <p:cNvSpPr/>
          <p:nvPr/>
        </p:nvSpPr>
        <p:spPr>
          <a:xfrm>
            <a:off x="4663440" y="2834640"/>
            <a:ext cx="64008" cy="1554480"/>
          </a:xfrm>
          <a:prstGeom prst="rect">
            <a:avLst/>
          </a:prstGeom>
          <a:solidFill>
            <a:srgbClr val="D94040"/>
          </a:solidFill>
          <a:ln w="12700">
            <a:solidFill>
              <a:srgbClr val="D94040"/>
            </a:solidFill>
            <a:prstDash val="solid"/>
          </a:ln>
        </p:spPr>
      </p:sp>
      <p:pic>
        <p:nvPicPr>
          <p:cNvPr id="21" name="Image 3" descr="preencoded.png">    </p:cNvPr>
          <p:cNvPicPr>
            <a:picLocks noChangeAspect="1"/>
          </p:cNvPicPr>
          <p:nvPr/>
        </p:nvPicPr>
        <p:blipFill>
          <a:blip r:embed="rId4"/>
          <a:stretch>
            <a:fillRect/>
          </a:stretch>
        </p:blipFill>
        <p:spPr>
          <a:xfrm>
            <a:off x="4846320" y="3410712"/>
            <a:ext cx="384048" cy="384048"/>
          </a:xfrm>
          <a:prstGeom prst="rect">
            <a:avLst/>
          </a:prstGeom>
        </p:spPr>
      </p:pic>
      <p:sp>
        <p:nvSpPr>
          <p:cNvPr id="22" name="Text 16"/>
          <p:cNvSpPr/>
          <p:nvPr/>
        </p:nvSpPr>
        <p:spPr>
          <a:xfrm>
            <a:off x="4846320" y="3017520"/>
            <a:ext cx="3657600" cy="347472"/>
          </a:xfrm>
          <a:prstGeom prst="rect">
            <a:avLst/>
          </a:prstGeom>
          <a:noFill/>
          <a:ln/>
        </p:spPr>
        <p:txBody>
          <a:bodyPr wrap="square" lIns="0" tIns="0" rIns="0" bIns="0" rtlCol="0" anchor="ctr"/>
          <a:lstStyle/>
          <a:p>
            <a:pPr indent="0" marL="0">
              <a:buNone/>
            </a:pPr>
            <a:r>
              <a:rPr lang="en-US" sz="1350" b="1" dirty="0">
                <a:solidFill>
                  <a:srgbClr val="1E2D3D"/>
                </a:solidFill>
                <a:latin typeface="Calibri" pitchFamily="34" charset="0"/>
                <a:ea typeface="Calibri" pitchFamily="34" charset="-122"/>
                <a:cs typeface="Calibri" pitchFamily="34" charset="-120"/>
              </a:rPr>
              <a:t>Heatmap tells the story</a:t>
            </a:r>
            <a:endParaRPr lang="en-US" sz="1350" dirty="0"/>
          </a:p>
        </p:txBody>
      </p:sp>
      <p:sp>
        <p:nvSpPr>
          <p:cNvPr id="23" name="Text 17"/>
          <p:cNvSpPr/>
          <p:nvPr/>
        </p:nvSpPr>
        <p:spPr>
          <a:xfrm>
            <a:off x="5349240" y="3410712"/>
            <a:ext cx="3200400" cy="7772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Row of red = broken inverter.  Column of red = cloudy day affecting everyone.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164592"/>
            <a:ext cx="8229600" cy="201168"/>
          </a:xfrm>
          <a:prstGeom prst="rect">
            <a:avLst/>
          </a:prstGeom>
          <a:noFill/>
          <a:ln/>
        </p:spPr>
        <p:txBody>
          <a:bodyPr wrap="square" lIns="0" tIns="0" rIns="0" bIns="0" rtlCol="0" anchor="ctr"/>
          <a:lstStyle/>
          <a:p>
            <a:pPr algn="l" indent="0" marL="0">
              <a:buNone/>
            </a:pPr>
            <a:r>
              <a:rPr lang="en-US" sz="850" b="1" spc="300" kern="0" dirty="0">
                <a:solidFill>
                  <a:srgbClr val="F4A726"/>
                </a:solidFill>
                <a:latin typeface="Calibri" pitchFamily="34" charset="0"/>
                <a:ea typeface="Calibri" pitchFamily="34" charset="-122"/>
                <a:cs typeface="Calibri" pitchFamily="34" charset="-120"/>
              </a:rPr>
              <a:t>MACHINE LEARNING · REGRESSION</a:t>
            </a:r>
            <a:endParaRPr lang="en-US" sz="850" dirty="0"/>
          </a:p>
        </p:txBody>
      </p:sp>
      <p:sp>
        <p:nvSpPr>
          <p:cNvPr id="3" name="Text 1"/>
          <p:cNvSpPr/>
          <p:nvPr/>
        </p:nvSpPr>
        <p:spPr>
          <a:xfrm>
            <a:off x="457200" y="384048"/>
            <a:ext cx="8229600" cy="594360"/>
          </a:xfrm>
          <a:prstGeom prst="rect">
            <a:avLst/>
          </a:prstGeom>
          <a:noFill/>
          <a:ln/>
        </p:spPr>
        <p:txBody>
          <a:bodyPr wrap="square" lIns="0" tIns="0" rIns="0" bIns="0" rtlCol="0" anchor="ctr"/>
          <a:lstStyle/>
          <a:p>
            <a:pPr algn="l" indent="0" marL="0">
              <a:buNone/>
            </a:pPr>
            <a:r>
              <a:rPr lang="en-US" sz="3000" b="1" dirty="0">
                <a:solidFill>
                  <a:srgbClr val="1B2B3B"/>
                </a:solidFill>
                <a:latin typeface="Calibri" pitchFamily="34" charset="0"/>
                <a:ea typeface="Calibri" pitchFamily="34" charset="-122"/>
                <a:cs typeface="Calibri" pitchFamily="34" charset="-120"/>
              </a:rPr>
              <a:t>Predicting AC Power from Weather</a:t>
            </a:r>
            <a:endParaRPr lang="en-US" sz="3000" dirty="0"/>
          </a:p>
        </p:txBody>
      </p:sp>
      <p:sp>
        <p:nvSpPr>
          <p:cNvPr id="4" name="Text 2"/>
          <p:cNvSpPr/>
          <p:nvPr/>
        </p:nvSpPr>
        <p:spPr>
          <a:xfrm>
            <a:off x="457200" y="1097280"/>
            <a:ext cx="3840480" cy="228600"/>
          </a:xfrm>
          <a:prstGeom prst="rect">
            <a:avLst/>
          </a:prstGeom>
          <a:noFill/>
          <a:ln/>
        </p:spPr>
        <p:txBody>
          <a:bodyPr wrap="square" lIns="0" tIns="0" rIns="0" bIns="0" rtlCol="0" anchor="ctr"/>
          <a:lstStyle/>
          <a:p>
            <a:pPr indent="0" marL="0">
              <a:buNone/>
            </a:pPr>
            <a:r>
              <a:rPr lang="en-US" sz="850" b="1" spc="200" kern="0" dirty="0">
                <a:solidFill>
                  <a:srgbClr val="F4A726"/>
                </a:solidFill>
                <a:latin typeface="Calibri" pitchFamily="34" charset="0"/>
                <a:ea typeface="Calibri" pitchFamily="34" charset="-122"/>
                <a:cs typeface="Calibri" pitchFamily="34" charset="-120"/>
              </a:rPr>
              <a:t>INPUT FEATURES</a:t>
            </a:r>
            <a:endParaRPr lang="en-US" sz="850" dirty="0"/>
          </a:p>
        </p:txBody>
      </p:sp>
      <p:sp>
        <p:nvSpPr>
          <p:cNvPr id="5" name="Text 3"/>
          <p:cNvSpPr/>
          <p:nvPr/>
        </p:nvSpPr>
        <p:spPr>
          <a:xfrm>
            <a:off x="457200" y="1389888"/>
            <a:ext cx="3840480" cy="3291840"/>
          </a:xfrm>
          <a:prstGeom prst="rect">
            <a:avLst/>
          </a:prstGeom>
          <a:noFill/>
          <a:ln/>
        </p:spPr>
        <p:txBody>
          <a:bodyPr wrap="square" rtlCol="0" anchor="ctr"/>
          <a:lstStyle/>
          <a:p>
            <a:pPr marL="342900" indent="-342900">
              <a:spcAft>
                <a:spcPts val="600"/>
              </a:spcAft>
              <a:buSzPct val="100000"/>
              <a:buChar char="•"/>
            </a:pPr>
            <a:r>
              <a:rPr lang="en-US" sz="1250" dirty="0">
                <a:solidFill>
                  <a:srgbClr val="1E2D3D"/>
                </a:solidFill>
                <a:latin typeface="Calibri" pitchFamily="34" charset="0"/>
                <a:ea typeface="Calibri" pitchFamily="34" charset="-122"/>
                <a:cs typeface="Calibri" pitchFamily="34" charset="-120"/>
              </a:rPr>
              <a:t>Radiation (W/m²)  ←  most important</a:t>
            </a:r>
            <a:endParaRPr lang="en-US" sz="1250" dirty="0"/>
          </a:p>
          <a:p>
            <a:pPr marL="342900" indent="-342900">
              <a:spcAft>
                <a:spcPts val="600"/>
              </a:spcAft>
              <a:buSzPct val="100000"/>
              <a:buChar char="•"/>
            </a:pPr>
            <a:r>
              <a:rPr lang="en-US" sz="1250" dirty="0">
                <a:solidFill>
                  <a:srgbClr val="1E2D3D"/>
                </a:solidFill>
                <a:latin typeface="Calibri" pitchFamily="34" charset="0"/>
                <a:ea typeface="Calibri" pitchFamily="34" charset="-122"/>
                <a:cs typeface="Calibri" pitchFamily="34" charset="-120"/>
              </a:rPr>
              <a:t>Temperature</a:t>
            </a:r>
            <a:endParaRPr lang="en-US" sz="1250" dirty="0"/>
          </a:p>
          <a:p>
            <a:pPr marL="342900" indent="-342900">
              <a:spcAft>
                <a:spcPts val="600"/>
              </a:spcAft>
              <a:buSzPct val="100000"/>
              <a:buChar char="•"/>
            </a:pPr>
            <a:r>
              <a:rPr lang="en-US" sz="1250" dirty="0">
                <a:solidFill>
                  <a:srgbClr val="1E2D3D"/>
                </a:solidFill>
                <a:latin typeface="Calibri" pitchFamily="34" charset="0"/>
                <a:ea typeface="Calibri" pitchFamily="34" charset="-122"/>
                <a:cs typeface="Calibri" pitchFamily="34" charset="-120"/>
              </a:rPr>
              <a:t>Humidity</a:t>
            </a:r>
            <a:endParaRPr lang="en-US" sz="1250" dirty="0"/>
          </a:p>
          <a:p>
            <a:pPr marL="342900" indent="-342900">
              <a:spcAft>
                <a:spcPts val="600"/>
              </a:spcAft>
              <a:buSzPct val="100000"/>
              <a:buChar char="•"/>
            </a:pPr>
            <a:r>
              <a:rPr lang="en-US" sz="1250" dirty="0">
                <a:solidFill>
                  <a:srgbClr val="1E2D3D"/>
                </a:solidFill>
                <a:latin typeface="Calibri" pitchFamily="34" charset="0"/>
                <a:ea typeface="Calibri" pitchFamily="34" charset="-122"/>
                <a:cs typeface="Calibri" pitchFamily="34" charset="-120"/>
              </a:rPr>
              <a:t>Wind Speed</a:t>
            </a:r>
            <a:endParaRPr lang="en-US" sz="1250" dirty="0"/>
          </a:p>
          <a:p>
            <a:pPr marL="342900" indent="-342900">
              <a:spcAft>
                <a:spcPts val="600"/>
              </a:spcAft>
              <a:buSzPct val="100000"/>
              <a:buChar char="•"/>
            </a:pPr>
            <a:r>
              <a:rPr lang="en-US" sz="1250" dirty="0">
                <a:solidFill>
                  <a:srgbClr val="1E2D3D"/>
                </a:solidFill>
                <a:latin typeface="Calibri" pitchFamily="34" charset="0"/>
                <a:ea typeface="Calibri" pitchFamily="34" charset="-122"/>
                <a:cs typeface="Calibri" pitchFamily="34" charset="-120"/>
              </a:rPr>
              <a:t>Hour of Day</a:t>
            </a:r>
            <a:endParaRPr lang="en-US" sz="1250" dirty="0"/>
          </a:p>
          <a:p>
            <a:pPr marL="342900" indent="-342900">
              <a:spcAft>
                <a:spcPts val="600"/>
              </a:spcAft>
              <a:buSzPct val="100000"/>
              <a:buChar char="•"/>
            </a:pPr>
            <a:r>
              <a:rPr lang="en-US" sz="1250" dirty="0">
                <a:solidFill>
                  <a:srgbClr val="1E2D3D"/>
                </a:solidFill>
                <a:latin typeface="Calibri" pitchFamily="34" charset="0"/>
                <a:ea typeface="Calibri" pitchFamily="34" charset="-122"/>
                <a:cs typeface="Calibri" pitchFamily="34" charset="-120"/>
              </a:rPr>
              <a:t>Hour from Solar Noon</a:t>
            </a:r>
            <a:endParaRPr lang="en-US" sz="1250" dirty="0"/>
          </a:p>
          <a:p>
            <a:pPr marL="342900" indent="-342900">
              <a:spcAft>
                <a:spcPts val="600"/>
              </a:spcAft>
              <a:buSzPct val="100000"/>
              <a:buChar char="•"/>
            </a:pPr>
            <a:r>
              <a:rPr lang="en-US" sz="1250" dirty="0">
                <a:solidFill>
                  <a:srgbClr val="1E2D3D"/>
                </a:solidFill>
                <a:latin typeface="Calibri" pitchFamily="34" charset="0"/>
                <a:ea typeface="Calibri" pitchFamily="34" charset="-122"/>
                <a:cs typeface="Calibri" pitchFamily="34" charset="-120"/>
              </a:rPr>
              <a:t>Month</a:t>
            </a:r>
            <a:endParaRPr lang="en-US" sz="1250" dirty="0"/>
          </a:p>
        </p:txBody>
      </p:sp>
      <p:sp>
        <p:nvSpPr>
          <p:cNvPr id="6" name="Text 4"/>
          <p:cNvSpPr/>
          <p:nvPr/>
        </p:nvSpPr>
        <p:spPr>
          <a:xfrm>
            <a:off x="4480560" y="1097280"/>
            <a:ext cx="4480560" cy="256032"/>
          </a:xfrm>
          <a:prstGeom prst="rect">
            <a:avLst/>
          </a:prstGeom>
          <a:noFill/>
          <a:ln/>
        </p:spPr>
        <p:txBody>
          <a:bodyPr wrap="square" lIns="0" tIns="0" rIns="0" bIns="0" rtlCol="0" anchor="ctr"/>
          <a:lstStyle/>
          <a:p>
            <a:pPr indent="0" marL="0">
              <a:buNone/>
            </a:pPr>
            <a:r>
              <a:rPr lang="en-US" sz="850" b="1" spc="200" kern="0" dirty="0">
                <a:solidFill>
                  <a:srgbClr val="F4A726"/>
                </a:solidFill>
                <a:latin typeface="Calibri" pitchFamily="34" charset="0"/>
                <a:ea typeface="Calibri" pitchFamily="34" charset="-122"/>
                <a:cs typeface="Calibri" pitchFamily="34" charset="-120"/>
              </a:rPr>
              <a:t>MODEL COMPARISON  (R²  —  each plant on its own test set)</a:t>
            </a:r>
            <a:endParaRPr lang="en-US" sz="850" dirty="0"/>
          </a:p>
        </p:txBody>
      </p:sp>
      <p:graphicFrame>
        <p:nvGraphicFramePr>
          <p:cNvPr id="7" name="Chart 0" descr=""/>
          <p:cNvGraphicFramePr/>
          <p:nvPr/>
        </p:nvGraphicFramePr>
        <p:xfrm>
          <a:off x="4434840" y="1389888"/>
          <a:ext cx="4526280" cy="32918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457200" y="4681728"/>
            <a:ext cx="8229600" cy="256032"/>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Separate model trained per plant  ·  TimeSeriesSplit CV  ·  RandomizedSearchCV tuning</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164592"/>
            <a:ext cx="8229600" cy="201168"/>
          </a:xfrm>
          <a:prstGeom prst="rect">
            <a:avLst/>
          </a:prstGeom>
          <a:noFill/>
          <a:ln/>
        </p:spPr>
        <p:txBody>
          <a:bodyPr wrap="square" lIns="0" tIns="0" rIns="0" bIns="0" rtlCol="0" anchor="ctr"/>
          <a:lstStyle/>
          <a:p>
            <a:pPr algn="l" indent="0" marL="0">
              <a:buNone/>
            </a:pPr>
            <a:r>
              <a:rPr lang="en-US" sz="850" b="1" spc="300" kern="0" dirty="0">
                <a:solidFill>
                  <a:srgbClr val="F4A726"/>
                </a:solidFill>
                <a:latin typeface="Calibri" pitchFamily="34" charset="0"/>
                <a:ea typeface="Calibri" pitchFamily="34" charset="-122"/>
                <a:cs typeface="Calibri" pitchFamily="34" charset="-120"/>
              </a:rPr>
              <a:t>ANOMALY DETECTION · ISOLATION FOREST</a:t>
            </a:r>
            <a:endParaRPr lang="en-US" sz="850" dirty="0"/>
          </a:p>
        </p:txBody>
      </p:sp>
      <p:sp>
        <p:nvSpPr>
          <p:cNvPr id="3" name="Text 1"/>
          <p:cNvSpPr/>
          <p:nvPr/>
        </p:nvSpPr>
        <p:spPr>
          <a:xfrm>
            <a:off x="457200" y="384048"/>
            <a:ext cx="8229600" cy="594360"/>
          </a:xfrm>
          <a:prstGeom prst="rect">
            <a:avLst/>
          </a:prstGeom>
          <a:noFill/>
          <a:ln/>
        </p:spPr>
        <p:txBody>
          <a:bodyPr wrap="square" lIns="0" tIns="0" rIns="0" bIns="0" rtlCol="0" anchor="ctr"/>
          <a:lstStyle/>
          <a:p>
            <a:pPr algn="l" indent="0" marL="0">
              <a:buNone/>
            </a:pPr>
            <a:r>
              <a:rPr lang="en-US" sz="3000" b="1" dirty="0">
                <a:solidFill>
                  <a:srgbClr val="1B2B3B"/>
                </a:solidFill>
                <a:latin typeface="Calibri" pitchFamily="34" charset="0"/>
                <a:ea typeface="Calibri" pitchFamily="34" charset="-122"/>
                <a:cs typeface="Calibri" pitchFamily="34" charset="-120"/>
              </a:rPr>
              <a:t>Flagging Underperforming Inverters</a:t>
            </a:r>
            <a:endParaRPr lang="en-US" sz="3000" dirty="0"/>
          </a:p>
        </p:txBody>
      </p:sp>
      <p:sp>
        <p:nvSpPr>
          <p:cNvPr id="4" name="Text 2"/>
          <p:cNvSpPr/>
          <p:nvPr/>
        </p:nvSpPr>
        <p:spPr>
          <a:xfrm>
            <a:off x="457200" y="1097280"/>
            <a:ext cx="4023360" cy="228600"/>
          </a:xfrm>
          <a:prstGeom prst="rect">
            <a:avLst/>
          </a:prstGeom>
          <a:noFill/>
          <a:ln/>
        </p:spPr>
        <p:txBody>
          <a:bodyPr wrap="square" lIns="0" tIns="0" rIns="0" bIns="0" rtlCol="0" anchor="ctr"/>
          <a:lstStyle/>
          <a:p>
            <a:pPr indent="0" marL="0">
              <a:buNone/>
            </a:pPr>
            <a:r>
              <a:rPr lang="en-US" sz="850" b="1" spc="200" kern="0" dirty="0">
                <a:solidFill>
                  <a:srgbClr val="F4A726"/>
                </a:solidFill>
                <a:latin typeface="Calibri" pitchFamily="34" charset="0"/>
                <a:ea typeface="Calibri" pitchFamily="34" charset="-122"/>
                <a:cs typeface="Calibri" pitchFamily="34" charset="-120"/>
              </a:rPr>
              <a:t>HOW IT WORKS</a:t>
            </a:r>
            <a:endParaRPr lang="en-US" sz="850" dirty="0"/>
          </a:p>
        </p:txBody>
      </p:sp>
      <p:sp>
        <p:nvSpPr>
          <p:cNvPr id="5" name="Shape 3"/>
          <p:cNvSpPr/>
          <p:nvPr/>
        </p:nvSpPr>
        <p:spPr>
          <a:xfrm>
            <a:off x="457200" y="1417320"/>
            <a:ext cx="402336" cy="402336"/>
          </a:xfrm>
          <a:prstGeom prst="rect">
            <a:avLst/>
          </a:prstGeom>
          <a:solidFill>
            <a:srgbClr val="0D7C8F"/>
          </a:solidFill>
          <a:ln w="12700">
            <a:solidFill>
              <a:srgbClr val="0D7C8F"/>
            </a:solidFill>
            <a:prstDash val="solid"/>
          </a:ln>
        </p:spPr>
      </p:sp>
      <p:sp>
        <p:nvSpPr>
          <p:cNvPr id="6" name="Text 4"/>
          <p:cNvSpPr/>
          <p:nvPr/>
        </p:nvSpPr>
        <p:spPr>
          <a:xfrm>
            <a:off x="457200" y="1417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978408" y="1453896"/>
            <a:ext cx="3383280" cy="365760"/>
          </a:xfrm>
          <a:prstGeom prst="rect">
            <a:avLst/>
          </a:prstGeom>
          <a:noFill/>
          <a:ln/>
        </p:spPr>
        <p:txBody>
          <a:bodyPr wrap="square" lIns="0" tIns="0" rIns="0" bIns="0" rtlCol="0" anchor="ctr"/>
          <a:lstStyle/>
          <a:p>
            <a:pPr indent="0" marL="0">
              <a:buNone/>
            </a:pPr>
            <a:r>
              <a:rPr lang="en-US" sz="1200" dirty="0">
                <a:solidFill>
                  <a:srgbClr val="1E2D3D"/>
                </a:solidFill>
                <a:latin typeface="Calibri" pitchFamily="34" charset="0"/>
                <a:ea typeface="Calibri" pitchFamily="34" charset="-122"/>
                <a:cs typeface="Calibri" pitchFamily="34" charset="-120"/>
              </a:rPr>
              <a:t>Predict expected AC output per inverter from weather</a:t>
            </a:r>
            <a:endParaRPr lang="en-US" sz="1200" dirty="0"/>
          </a:p>
        </p:txBody>
      </p:sp>
      <p:sp>
        <p:nvSpPr>
          <p:cNvPr id="8" name="Shape 6"/>
          <p:cNvSpPr/>
          <p:nvPr/>
        </p:nvSpPr>
        <p:spPr>
          <a:xfrm>
            <a:off x="457200" y="2075688"/>
            <a:ext cx="402336" cy="402336"/>
          </a:xfrm>
          <a:prstGeom prst="rect">
            <a:avLst/>
          </a:prstGeom>
          <a:solidFill>
            <a:srgbClr val="0D7C8F"/>
          </a:solidFill>
          <a:ln w="12700">
            <a:solidFill>
              <a:srgbClr val="0D7C8F"/>
            </a:solidFill>
            <a:prstDash val="solid"/>
          </a:ln>
        </p:spPr>
      </p:sp>
      <p:sp>
        <p:nvSpPr>
          <p:cNvPr id="9" name="Text 7"/>
          <p:cNvSpPr/>
          <p:nvPr/>
        </p:nvSpPr>
        <p:spPr>
          <a:xfrm>
            <a:off x="457200" y="2075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978408" y="2112264"/>
            <a:ext cx="3383280" cy="365760"/>
          </a:xfrm>
          <a:prstGeom prst="rect">
            <a:avLst/>
          </a:prstGeom>
          <a:noFill/>
          <a:ln/>
        </p:spPr>
        <p:txBody>
          <a:bodyPr wrap="square" lIns="0" tIns="0" rIns="0" bIns="0" rtlCol="0" anchor="ctr"/>
          <a:lstStyle/>
          <a:p>
            <a:pPr indent="0" marL="0">
              <a:buNone/>
            </a:pPr>
            <a:r>
              <a:rPr lang="en-US" sz="1200" dirty="0">
                <a:solidFill>
                  <a:srgbClr val="1E2D3D"/>
                </a:solidFill>
                <a:latin typeface="Calibri" pitchFamily="34" charset="0"/>
                <a:ea typeface="Calibri" pitchFamily="34" charset="-122"/>
                <a:cs typeface="Calibri" pitchFamily="34" charset="-120"/>
              </a:rPr>
              <a:t>Compute residual  =  actual  −  predicted</a:t>
            </a:r>
            <a:endParaRPr lang="en-US" sz="1200" dirty="0"/>
          </a:p>
        </p:txBody>
      </p:sp>
      <p:sp>
        <p:nvSpPr>
          <p:cNvPr id="11" name="Shape 9"/>
          <p:cNvSpPr/>
          <p:nvPr/>
        </p:nvSpPr>
        <p:spPr>
          <a:xfrm>
            <a:off x="457200" y="2734056"/>
            <a:ext cx="402336" cy="402336"/>
          </a:xfrm>
          <a:prstGeom prst="rect">
            <a:avLst/>
          </a:prstGeom>
          <a:solidFill>
            <a:srgbClr val="0D7C8F"/>
          </a:solidFill>
          <a:ln w="12700">
            <a:solidFill>
              <a:srgbClr val="0D7C8F"/>
            </a:solidFill>
            <a:prstDash val="solid"/>
          </a:ln>
        </p:spPr>
      </p:sp>
      <p:sp>
        <p:nvSpPr>
          <p:cNvPr id="12" name="Text 10"/>
          <p:cNvSpPr/>
          <p:nvPr/>
        </p:nvSpPr>
        <p:spPr>
          <a:xfrm>
            <a:off x="457200" y="27340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p:nvPr/>
        </p:nvSpPr>
        <p:spPr>
          <a:xfrm>
            <a:off x="978408" y="2770632"/>
            <a:ext cx="3383280" cy="365760"/>
          </a:xfrm>
          <a:prstGeom prst="rect">
            <a:avLst/>
          </a:prstGeom>
          <a:noFill/>
          <a:ln/>
        </p:spPr>
        <p:txBody>
          <a:bodyPr wrap="square" lIns="0" tIns="0" rIns="0" bIns="0" rtlCol="0" anchor="ctr"/>
          <a:lstStyle/>
          <a:p>
            <a:pPr indent="0" marL="0">
              <a:buNone/>
            </a:pPr>
            <a:r>
              <a:rPr lang="en-US" sz="1200" dirty="0">
                <a:solidFill>
                  <a:srgbClr val="1E2D3D"/>
                </a:solidFill>
                <a:latin typeface="Calibri" pitchFamily="34" charset="0"/>
                <a:ea typeface="Calibri" pitchFamily="34" charset="-122"/>
                <a:cs typeface="Calibri" pitchFamily="34" charset="-120"/>
              </a:rPr>
              <a:t>Aggregate: daily performance metrics per inverter</a:t>
            </a:r>
            <a:endParaRPr lang="en-US" sz="1200" dirty="0"/>
          </a:p>
        </p:txBody>
      </p:sp>
      <p:sp>
        <p:nvSpPr>
          <p:cNvPr id="14" name="Shape 12"/>
          <p:cNvSpPr/>
          <p:nvPr/>
        </p:nvSpPr>
        <p:spPr>
          <a:xfrm>
            <a:off x="457200" y="3392424"/>
            <a:ext cx="402336" cy="402336"/>
          </a:xfrm>
          <a:prstGeom prst="rect">
            <a:avLst/>
          </a:prstGeom>
          <a:solidFill>
            <a:srgbClr val="0D7C8F"/>
          </a:solidFill>
          <a:ln w="12700">
            <a:solidFill>
              <a:srgbClr val="0D7C8F"/>
            </a:solidFill>
            <a:prstDash val="solid"/>
          </a:ln>
        </p:spPr>
      </p:sp>
      <p:sp>
        <p:nvSpPr>
          <p:cNvPr id="15" name="Text 13"/>
          <p:cNvSpPr/>
          <p:nvPr/>
        </p:nvSpPr>
        <p:spPr>
          <a:xfrm>
            <a:off x="457200" y="33924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p:nvPr/>
        </p:nvSpPr>
        <p:spPr>
          <a:xfrm>
            <a:off x="978408" y="3429000"/>
            <a:ext cx="3383280" cy="365760"/>
          </a:xfrm>
          <a:prstGeom prst="rect">
            <a:avLst/>
          </a:prstGeom>
          <a:noFill/>
          <a:ln/>
        </p:spPr>
        <p:txBody>
          <a:bodyPr wrap="square" lIns="0" tIns="0" rIns="0" bIns="0" rtlCol="0" anchor="ctr"/>
          <a:lstStyle/>
          <a:p>
            <a:pPr indent="0" marL="0">
              <a:buNone/>
            </a:pPr>
            <a:r>
              <a:rPr lang="en-US" sz="1200" dirty="0">
                <a:solidFill>
                  <a:srgbClr val="1E2D3D"/>
                </a:solidFill>
                <a:latin typeface="Calibri" pitchFamily="34" charset="0"/>
                <a:ea typeface="Calibri" pitchFamily="34" charset="-122"/>
                <a:cs typeface="Calibri" pitchFamily="34" charset="-120"/>
              </a:rPr>
              <a:t>Run Isolation Forest on those metrics</a:t>
            </a:r>
            <a:endParaRPr lang="en-US" sz="1200" dirty="0"/>
          </a:p>
        </p:txBody>
      </p:sp>
      <p:sp>
        <p:nvSpPr>
          <p:cNvPr id="17" name="Shape 15"/>
          <p:cNvSpPr/>
          <p:nvPr/>
        </p:nvSpPr>
        <p:spPr>
          <a:xfrm>
            <a:off x="457200" y="4050792"/>
            <a:ext cx="402336" cy="402336"/>
          </a:xfrm>
          <a:prstGeom prst="rect">
            <a:avLst/>
          </a:prstGeom>
          <a:solidFill>
            <a:srgbClr val="0D7C8F"/>
          </a:solidFill>
          <a:ln w="12700">
            <a:solidFill>
              <a:srgbClr val="0D7C8F"/>
            </a:solidFill>
            <a:prstDash val="solid"/>
          </a:ln>
        </p:spPr>
      </p:sp>
      <p:sp>
        <p:nvSpPr>
          <p:cNvPr id="18" name="Text 16"/>
          <p:cNvSpPr/>
          <p:nvPr/>
        </p:nvSpPr>
        <p:spPr>
          <a:xfrm>
            <a:off x="457200" y="40507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9" name="Text 17"/>
          <p:cNvSpPr/>
          <p:nvPr/>
        </p:nvSpPr>
        <p:spPr>
          <a:xfrm>
            <a:off x="978408" y="4087368"/>
            <a:ext cx="3383280" cy="365760"/>
          </a:xfrm>
          <a:prstGeom prst="rect">
            <a:avLst/>
          </a:prstGeom>
          <a:noFill/>
          <a:ln/>
        </p:spPr>
        <p:txBody>
          <a:bodyPr wrap="square" lIns="0" tIns="0" rIns="0" bIns="0" rtlCol="0" anchor="ctr"/>
          <a:lstStyle/>
          <a:p>
            <a:pPr indent="0" marL="0">
              <a:buNone/>
            </a:pPr>
            <a:r>
              <a:rPr lang="en-US" sz="1200" dirty="0">
                <a:solidFill>
                  <a:srgbClr val="1E2D3D"/>
                </a:solidFill>
                <a:latin typeface="Calibri" pitchFamily="34" charset="0"/>
                <a:ea typeface="Calibri" pitchFamily="34" charset="-122"/>
                <a:cs typeface="Calibri" pitchFamily="34" charset="-120"/>
              </a:rPr>
              <a:t>Rank inverters by anomaly rate → inspection list</a:t>
            </a:r>
            <a:endParaRPr lang="en-US" sz="1200" dirty="0"/>
          </a:p>
        </p:txBody>
      </p:sp>
      <p:sp>
        <p:nvSpPr>
          <p:cNvPr id="20" name="Text 18"/>
          <p:cNvSpPr/>
          <p:nvPr/>
        </p:nvSpPr>
        <p:spPr>
          <a:xfrm>
            <a:off x="4846320" y="1097280"/>
            <a:ext cx="3931920" cy="228600"/>
          </a:xfrm>
          <a:prstGeom prst="rect">
            <a:avLst/>
          </a:prstGeom>
          <a:noFill/>
          <a:ln/>
        </p:spPr>
        <p:txBody>
          <a:bodyPr wrap="square" lIns="0" tIns="0" rIns="0" bIns="0" rtlCol="0" anchor="ctr"/>
          <a:lstStyle/>
          <a:p>
            <a:pPr indent="0" marL="0">
              <a:buNone/>
            </a:pPr>
            <a:r>
              <a:rPr lang="en-US" sz="850" b="1" spc="200" kern="0" dirty="0">
                <a:solidFill>
                  <a:srgbClr val="F4A726"/>
                </a:solidFill>
                <a:latin typeface="Calibri" pitchFamily="34" charset="0"/>
                <a:ea typeface="Calibri" pitchFamily="34" charset="-122"/>
                <a:cs typeface="Calibri" pitchFamily="34" charset="-120"/>
              </a:rPr>
              <a:t>RESULTS</a:t>
            </a:r>
            <a:endParaRPr lang="en-US" sz="850" dirty="0"/>
          </a:p>
        </p:txBody>
      </p:sp>
      <p:sp>
        <p:nvSpPr>
          <p:cNvPr id="21" name="Shape 19"/>
          <p:cNvSpPr/>
          <p:nvPr/>
        </p:nvSpPr>
        <p:spPr>
          <a:xfrm>
            <a:off x="4846320" y="1417320"/>
            <a:ext cx="1828800" cy="1005840"/>
          </a:xfrm>
          <a:prstGeom prst="rect">
            <a:avLst/>
          </a:prstGeom>
          <a:solidFill>
            <a:srgbClr val="FDEAEA"/>
          </a:solidFill>
          <a:ln w="6350">
            <a:solidFill>
              <a:srgbClr val="DDE3EC"/>
            </a:solidFill>
            <a:prstDash val="solid"/>
          </a:ln>
        </p:spPr>
      </p:sp>
      <p:sp>
        <p:nvSpPr>
          <p:cNvPr id="22" name="Text 20"/>
          <p:cNvSpPr/>
          <p:nvPr/>
        </p:nvSpPr>
        <p:spPr>
          <a:xfrm>
            <a:off x="4846320" y="1490472"/>
            <a:ext cx="1828800" cy="553212"/>
          </a:xfrm>
          <a:prstGeom prst="rect">
            <a:avLst/>
          </a:prstGeom>
          <a:noFill/>
          <a:ln/>
        </p:spPr>
        <p:txBody>
          <a:bodyPr wrap="square" lIns="0" tIns="0" rIns="0" bIns="0" rtlCol="0" anchor="b"/>
          <a:lstStyle/>
          <a:p>
            <a:pPr algn="ctr" indent="0" marL="0">
              <a:buNone/>
            </a:pPr>
            <a:r>
              <a:rPr lang="en-US" sz="2600" b="1" dirty="0">
                <a:solidFill>
                  <a:srgbClr val="D94040"/>
                </a:solidFill>
                <a:latin typeface="Calibri" pitchFamily="34" charset="0"/>
                <a:ea typeface="Calibri" pitchFamily="34" charset="-122"/>
                <a:cs typeface="Calibri" pitchFamily="34" charset="-120"/>
              </a:rPr>
              <a:t>~10%</a:t>
            </a:r>
            <a:endParaRPr lang="en-US" sz="2600" dirty="0"/>
          </a:p>
        </p:txBody>
      </p:sp>
      <p:sp>
        <p:nvSpPr>
          <p:cNvPr id="23" name="Text 21"/>
          <p:cNvSpPr/>
          <p:nvPr/>
        </p:nvSpPr>
        <p:spPr>
          <a:xfrm>
            <a:off x="4846320" y="2000707"/>
            <a:ext cx="1828800" cy="382219"/>
          </a:xfrm>
          <a:prstGeom prst="rect">
            <a:avLst/>
          </a:prstGeom>
          <a:noFill/>
          <a:ln/>
        </p:spPr>
        <p:txBody>
          <a:bodyPr wrap="square" lIns="0" tIns="0" rIns="0" bIns="0"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inverter-days flagged</a:t>
            </a:r>
            <a:endParaRPr lang="en-US" sz="1000" dirty="0"/>
          </a:p>
        </p:txBody>
      </p:sp>
      <p:sp>
        <p:nvSpPr>
          <p:cNvPr id="24" name="Shape 22"/>
          <p:cNvSpPr/>
          <p:nvPr/>
        </p:nvSpPr>
        <p:spPr>
          <a:xfrm>
            <a:off x="6812280" y="1417320"/>
            <a:ext cx="1874520" cy="1005840"/>
          </a:xfrm>
          <a:prstGeom prst="rect">
            <a:avLst/>
          </a:prstGeom>
          <a:solidFill>
            <a:srgbClr val="E0F4F7"/>
          </a:solidFill>
          <a:ln w="6350">
            <a:solidFill>
              <a:srgbClr val="DDE3EC"/>
            </a:solidFill>
            <a:prstDash val="solid"/>
          </a:ln>
        </p:spPr>
      </p:sp>
      <p:sp>
        <p:nvSpPr>
          <p:cNvPr id="25" name="Text 23"/>
          <p:cNvSpPr/>
          <p:nvPr/>
        </p:nvSpPr>
        <p:spPr>
          <a:xfrm>
            <a:off x="6812280" y="1490472"/>
            <a:ext cx="1874520" cy="553212"/>
          </a:xfrm>
          <a:prstGeom prst="rect">
            <a:avLst/>
          </a:prstGeom>
          <a:noFill/>
          <a:ln/>
        </p:spPr>
        <p:txBody>
          <a:bodyPr wrap="square" lIns="0" tIns="0" rIns="0" bIns="0" rtlCol="0" anchor="b"/>
          <a:lstStyle/>
          <a:p>
            <a:pPr algn="ctr" indent="0" marL="0">
              <a:buNone/>
            </a:pPr>
            <a:r>
              <a:rPr lang="en-US" sz="2600" b="1" dirty="0">
                <a:solidFill>
                  <a:srgbClr val="0D7C8F"/>
                </a:solidFill>
                <a:latin typeface="Calibri" pitchFamily="34" charset="0"/>
                <a:ea typeface="Calibri" pitchFamily="34" charset="-122"/>
                <a:cs typeface="Calibri" pitchFamily="34" charset="-120"/>
              </a:rPr>
              <a:t>22</a:t>
            </a:r>
            <a:endParaRPr lang="en-US" sz="2600" dirty="0"/>
          </a:p>
        </p:txBody>
      </p:sp>
      <p:sp>
        <p:nvSpPr>
          <p:cNvPr id="26" name="Text 24"/>
          <p:cNvSpPr/>
          <p:nvPr/>
        </p:nvSpPr>
        <p:spPr>
          <a:xfrm>
            <a:off x="6812280" y="2000707"/>
            <a:ext cx="1874520" cy="382219"/>
          </a:xfrm>
          <a:prstGeom prst="rect">
            <a:avLst/>
          </a:prstGeom>
          <a:noFill/>
          <a:ln/>
        </p:spPr>
        <p:txBody>
          <a:bodyPr wrap="square" lIns="0" tIns="0" rIns="0" bIns="0"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inverters ranked</a:t>
            </a:r>
            <a:endParaRPr lang="en-US" sz="1000" dirty="0"/>
          </a:p>
        </p:txBody>
      </p:sp>
      <p:sp>
        <p:nvSpPr>
          <p:cNvPr id="27" name="Shape 25"/>
          <p:cNvSpPr/>
          <p:nvPr/>
        </p:nvSpPr>
        <p:spPr>
          <a:xfrm>
            <a:off x="4846320" y="2606040"/>
            <a:ext cx="3840480" cy="1005840"/>
          </a:xfrm>
          <a:prstGeom prst="rect">
            <a:avLst/>
          </a:prstGeom>
          <a:solidFill>
            <a:srgbClr val="E0F5EE"/>
          </a:solidFill>
          <a:ln w="6350">
            <a:solidFill>
              <a:srgbClr val="DDE3EC"/>
            </a:solidFill>
            <a:prstDash val="solid"/>
          </a:ln>
        </p:spPr>
      </p:sp>
      <p:sp>
        <p:nvSpPr>
          <p:cNvPr id="28" name="Text 26"/>
          <p:cNvSpPr/>
          <p:nvPr/>
        </p:nvSpPr>
        <p:spPr>
          <a:xfrm>
            <a:off x="4846320" y="2679192"/>
            <a:ext cx="3840480" cy="553212"/>
          </a:xfrm>
          <a:prstGeom prst="rect">
            <a:avLst/>
          </a:prstGeom>
          <a:noFill/>
          <a:ln/>
        </p:spPr>
        <p:txBody>
          <a:bodyPr wrap="square" lIns="0" tIns="0" rIns="0" bIns="0" rtlCol="0" anchor="b"/>
          <a:lstStyle/>
          <a:p>
            <a:pPr algn="ctr" indent="0" marL="0">
              <a:buNone/>
            </a:pPr>
            <a:r>
              <a:rPr lang="en-US" sz="2600" b="1" dirty="0">
                <a:solidFill>
                  <a:srgbClr val="1D9E75"/>
                </a:solidFill>
                <a:latin typeface="Calibri" pitchFamily="34" charset="0"/>
                <a:ea typeface="Calibri" pitchFamily="34" charset="-122"/>
                <a:cs typeface="Calibri" pitchFamily="34" charset="-120"/>
              </a:rPr>
              <a:t>0.977</a:t>
            </a:r>
            <a:endParaRPr lang="en-US" sz="2600" dirty="0"/>
          </a:p>
        </p:txBody>
      </p:sp>
      <p:sp>
        <p:nvSpPr>
          <p:cNvPr id="29" name="Text 27"/>
          <p:cNvSpPr/>
          <p:nvPr/>
        </p:nvSpPr>
        <p:spPr>
          <a:xfrm>
            <a:off x="4846320" y="3189427"/>
            <a:ext cx="3840480" cy="382219"/>
          </a:xfrm>
          <a:prstGeom prst="rect">
            <a:avLst/>
          </a:prstGeom>
          <a:noFill/>
          <a:ln/>
        </p:spPr>
        <p:txBody>
          <a:bodyPr wrap="square" lIns="0" tIns="0" rIns="0" bIns="0"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avg performance ratio (both plants)</a:t>
            </a:r>
            <a:endParaRPr lang="en-US" sz="1000" dirty="0"/>
          </a:p>
        </p:txBody>
      </p:sp>
      <p:sp>
        <p:nvSpPr>
          <p:cNvPr id="30" name="Shape 28"/>
          <p:cNvSpPr/>
          <p:nvPr/>
        </p:nvSpPr>
        <p:spPr>
          <a:xfrm>
            <a:off x="4846320" y="3749040"/>
            <a:ext cx="3840480" cy="1143000"/>
          </a:xfrm>
          <a:prstGeom prst="rect">
            <a:avLst/>
          </a:prstGeom>
          <a:solidFill>
            <a:srgbClr val="EEEAFB"/>
          </a:solidFill>
          <a:ln w="6350">
            <a:solidFill>
              <a:srgbClr val="DDE3EC"/>
            </a:solidFill>
            <a:prstDash val="solid"/>
          </a:ln>
          <a:effectLst>
            <a:outerShdw sx="100000" sy="100000" kx="0" ky="0" algn="bl" rotWithShape="0" blurRad="127000" dist="38100" dir="8100000">
              <a:srgbClr val="000000">
                <a:alpha val="6000"/>
              </a:srgbClr>
            </a:outerShdw>
          </a:effectLst>
        </p:spPr>
      </p:sp>
      <p:sp>
        <p:nvSpPr>
          <p:cNvPr id="31" name="Shape 29"/>
          <p:cNvSpPr/>
          <p:nvPr/>
        </p:nvSpPr>
        <p:spPr>
          <a:xfrm>
            <a:off x="4846320" y="3749040"/>
            <a:ext cx="64008" cy="1143000"/>
          </a:xfrm>
          <a:prstGeom prst="rect">
            <a:avLst/>
          </a:prstGeom>
          <a:solidFill>
            <a:srgbClr val="5B4FCF"/>
          </a:solidFill>
          <a:ln w="12700">
            <a:solidFill>
              <a:srgbClr val="5B4FCF"/>
            </a:solidFill>
            <a:prstDash val="solid"/>
          </a:ln>
        </p:spPr>
      </p:sp>
      <p:sp>
        <p:nvSpPr>
          <p:cNvPr id="32" name="Text 30"/>
          <p:cNvSpPr/>
          <p:nvPr/>
        </p:nvSpPr>
        <p:spPr>
          <a:xfrm>
            <a:off x="5047488" y="3822192"/>
            <a:ext cx="3474720" cy="274320"/>
          </a:xfrm>
          <a:prstGeom prst="rect">
            <a:avLst/>
          </a:prstGeom>
          <a:noFill/>
          <a:ln/>
        </p:spPr>
        <p:txBody>
          <a:bodyPr wrap="square" lIns="0" tIns="0" rIns="0" bIns="0" rtlCol="0" anchor="ctr"/>
          <a:lstStyle/>
          <a:p>
            <a:pPr indent="0" marL="0">
              <a:buNone/>
            </a:pPr>
            <a:r>
              <a:rPr lang="en-US" sz="1100" b="1" dirty="0">
                <a:solidFill>
                  <a:srgbClr val="5B4FCF"/>
                </a:solidFill>
                <a:latin typeface="Calibri" pitchFamily="34" charset="0"/>
                <a:ea typeface="Calibri" pitchFamily="34" charset="-122"/>
                <a:cs typeface="Calibri" pitchFamily="34" charset="-120"/>
              </a:rPr>
              <a:t>Key insight</a:t>
            </a:r>
            <a:endParaRPr lang="en-US" sz="1100" dirty="0"/>
          </a:p>
        </p:txBody>
      </p:sp>
      <p:sp>
        <p:nvSpPr>
          <p:cNvPr id="33" name="Text 31"/>
          <p:cNvSpPr/>
          <p:nvPr/>
        </p:nvSpPr>
        <p:spPr>
          <a:xfrm>
            <a:off x="5047488" y="4114800"/>
            <a:ext cx="3547872" cy="685800"/>
          </a:xfrm>
          <a:prstGeom prst="rect">
            <a:avLst/>
          </a:prstGeom>
          <a:noFill/>
          <a:ln/>
        </p:spPr>
        <p:txBody>
          <a:bodyPr wrap="square" rtlCol="0" anchor="ctr"/>
          <a:lstStyle/>
          <a:p>
            <a:pPr marL="342900" indent="-342900">
              <a:spcAft>
                <a:spcPts val="400"/>
              </a:spcAft>
              <a:buSzPct val="100000"/>
              <a:buChar char="•"/>
            </a:pPr>
            <a:r>
              <a:rPr lang="en-US" sz="1100" dirty="0">
                <a:solidFill>
                  <a:srgbClr val="1E2D3D"/>
                </a:solidFill>
                <a:latin typeface="Calibri" pitchFamily="34" charset="0"/>
                <a:ea typeface="Calibri" pitchFamily="34" charset="-122"/>
                <a:cs typeface="Calibri" pitchFamily="34" charset="-120"/>
              </a:rPr>
              <a:t>Persistent red row in heatmap  =  inverter fault</a:t>
            </a:r>
            <a:endParaRPr lang="en-US" sz="1100" dirty="0"/>
          </a:p>
          <a:p>
            <a:pPr marL="342900" indent="-342900">
              <a:spcAft>
                <a:spcPts val="400"/>
              </a:spcAft>
              <a:buSzPct val="100000"/>
              <a:buChar char="•"/>
            </a:pPr>
            <a:r>
              <a:rPr lang="en-US" sz="1100" dirty="0">
                <a:solidFill>
                  <a:srgbClr val="1E2D3D"/>
                </a:solidFill>
                <a:latin typeface="Calibri" pitchFamily="34" charset="0"/>
                <a:ea typeface="Calibri" pitchFamily="34" charset="-122"/>
                <a:cs typeface="Calibri" pitchFamily="34" charset="-120"/>
              </a:rPr>
              <a:t>Full red column  =  weather event (all inverters affected)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B3B"/>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F4A726"/>
          </a:solidFill>
          <a:ln w="12700">
            <a:solidFill>
              <a:srgbClr val="F4A726"/>
            </a:solidFill>
            <a:prstDash val="solid"/>
          </a:ln>
        </p:spPr>
      </p:sp>
      <p:sp>
        <p:nvSpPr>
          <p:cNvPr id="3" name="Text 1"/>
          <p:cNvSpPr/>
          <p:nvPr/>
        </p:nvSpPr>
        <p:spPr>
          <a:xfrm>
            <a:off x="457200" y="164592"/>
            <a:ext cx="8229600" cy="201168"/>
          </a:xfrm>
          <a:prstGeom prst="rect">
            <a:avLst/>
          </a:prstGeom>
          <a:noFill/>
          <a:ln/>
        </p:spPr>
        <p:txBody>
          <a:bodyPr wrap="square" lIns="0" tIns="0" rIns="0" bIns="0" rtlCol="0" anchor="ctr"/>
          <a:lstStyle/>
          <a:p>
            <a:pPr indent="0" marL="0">
              <a:buNone/>
            </a:pPr>
            <a:r>
              <a:rPr lang="en-US" sz="850" b="1" spc="300" kern="0" dirty="0">
                <a:solidFill>
                  <a:srgbClr val="F4A726"/>
                </a:solidFill>
                <a:latin typeface="Calibri" pitchFamily="34" charset="0"/>
                <a:ea typeface="Calibri" pitchFamily="34" charset="-122"/>
                <a:cs typeface="Calibri" pitchFamily="34" charset="-120"/>
              </a:rPr>
              <a:t>CONCLUSIONS</a:t>
            </a:r>
            <a:endParaRPr lang="en-US" sz="850" dirty="0"/>
          </a:p>
        </p:txBody>
      </p:sp>
      <p:sp>
        <p:nvSpPr>
          <p:cNvPr id="4" name="Text 2"/>
          <p:cNvSpPr/>
          <p:nvPr/>
        </p:nvSpPr>
        <p:spPr>
          <a:xfrm>
            <a:off x="457200" y="384048"/>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What We Found, What We Learned</a:t>
            </a:r>
            <a:endParaRPr lang="en-US" sz="3000" dirty="0"/>
          </a:p>
        </p:txBody>
      </p:sp>
      <p:sp>
        <p:nvSpPr>
          <p:cNvPr id="5" name="Text 3"/>
          <p:cNvSpPr/>
          <p:nvPr/>
        </p:nvSpPr>
        <p:spPr>
          <a:xfrm>
            <a:off x="457200" y="1170432"/>
            <a:ext cx="4023360" cy="228600"/>
          </a:xfrm>
          <a:prstGeom prst="rect">
            <a:avLst/>
          </a:prstGeom>
          <a:noFill/>
          <a:ln/>
        </p:spPr>
        <p:txBody>
          <a:bodyPr wrap="square" lIns="0" tIns="0" rIns="0" bIns="0" rtlCol="0" anchor="ctr"/>
          <a:lstStyle/>
          <a:p>
            <a:pPr indent="0" marL="0">
              <a:buNone/>
            </a:pPr>
            <a:r>
              <a:rPr lang="en-US" sz="850" b="1" spc="200" kern="0" dirty="0">
                <a:solidFill>
                  <a:srgbClr val="F4A726"/>
                </a:solidFill>
                <a:latin typeface="Calibri" pitchFamily="34" charset="0"/>
                <a:ea typeface="Calibri" pitchFamily="34" charset="-122"/>
                <a:cs typeface="Calibri" pitchFamily="34" charset="-120"/>
              </a:rPr>
              <a:t>OUTCOMES</a:t>
            </a:r>
            <a:endParaRPr lang="en-US" sz="850" dirty="0"/>
          </a:p>
        </p:txBody>
      </p:sp>
      <p:pic>
        <p:nvPicPr>
          <p:cNvPr id="6" name="Image 0" descr="preencoded.png">    </p:cNvPr>
          <p:cNvPicPr>
            <a:picLocks noChangeAspect="1"/>
          </p:cNvPicPr>
          <p:nvPr/>
        </p:nvPicPr>
        <p:blipFill>
          <a:blip r:embed="rId1"/>
          <a:stretch>
            <a:fillRect/>
          </a:stretch>
        </p:blipFill>
        <p:spPr>
          <a:xfrm>
            <a:off x="457200" y="1545336"/>
            <a:ext cx="237744" cy="237744"/>
          </a:xfrm>
          <a:prstGeom prst="rect">
            <a:avLst/>
          </a:prstGeom>
        </p:spPr>
      </p:pic>
      <p:sp>
        <p:nvSpPr>
          <p:cNvPr id="7" name="Text 4"/>
          <p:cNvSpPr/>
          <p:nvPr/>
        </p:nvSpPr>
        <p:spPr>
          <a:xfrm>
            <a:off x="804672" y="1481328"/>
            <a:ext cx="365760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Random Forest: R² = 0.81 (P1)  and  0.66 (P2)</a:t>
            </a:r>
            <a:endParaRPr lang="en-US" sz="1200" dirty="0"/>
          </a:p>
        </p:txBody>
      </p:sp>
      <p:pic>
        <p:nvPicPr>
          <p:cNvPr id="8" name="Image 1" descr="preencoded.png">    </p:cNvPr>
          <p:cNvPicPr>
            <a:picLocks noChangeAspect="1"/>
          </p:cNvPicPr>
          <p:nvPr/>
        </p:nvPicPr>
        <p:blipFill>
          <a:blip r:embed="rId2"/>
          <a:stretch>
            <a:fillRect/>
          </a:stretch>
        </p:blipFill>
        <p:spPr>
          <a:xfrm>
            <a:off x="457200" y="2139696"/>
            <a:ext cx="237744" cy="237744"/>
          </a:xfrm>
          <a:prstGeom prst="rect">
            <a:avLst/>
          </a:prstGeom>
        </p:spPr>
      </p:pic>
      <p:sp>
        <p:nvSpPr>
          <p:cNvPr id="9" name="Text 5"/>
          <p:cNvSpPr/>
          <p:nvPr/>
        </p:nvSpPr>
        <p:spPr>
          <a:xfrm>
            <a:off x="804672" y="2075688"/>
            <a:ext cx="365760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Separate model per plant — cross-transfer fails</a:t>
            </a:r>
            <a:endParaRPr lang="en-US" sz="1200" dirty="0"/>
          </a:p>
        </p:txBody>
      </p:sp>
      <p:pic>
        <p:nvPicPr>
          <p:cNvPr id="10" name="Image 2" descr="preencoded.png">    </p:cNvPr>
          <p:cNvPicPr>
            <a:picLocks noChangeAspect="1"/>
          </p:cNvPicPr>
          <p:nvPr/>
        </p:nvPicPr>
        <p:blipFill>
          <a:blip r:embed="rId3"/>
          <a:stretch>
            <a:fillRect/>
          </a:stretch>
        </p:blipFill>
        <p:spPr>
          <a:xfrm>
            <a:off x="457200" y="2734056"/>
            <a:ext cx="237744" cy="237744"/>
          </a:xfrm>
          <a:prstGeom prst="rect">
            <a:avLst/>
          </a:prstGeom>
        </p:spPr>
      </p:pic>
      <p:sp>
        <p:nvSpPr>
          <p:cNvPr id="11" name="Text 6"/>
          <p:cNvSpPr/>
          <p:nvPr/>
        </p:nvSpPr>
        <p:spPr>
          <a:xfrm>
            <a:off x="804672" y="2670048"/>
            <a:ext cx="365760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Radiation + hour of day dominate both models</a:t>
            </a:r>
            <a:endParaRPr lang="en-US" sz="1200" dirty="0"/>
          </a:p>
        </p:txBody>
      </p:sp>
      <p:pic>
        <p:nvPicPr>
          <p:cNvPr id="12" name="Image 3" descr="preencoded.png">    </p:cNvPr>
          <p:cNvPicPr>
            <a:picLocks noChangeAspect="1"/>
          </p:cNvPicPr>
          <p:nvPr/>
        </p:nvPicPr>
        <p:blipFill>
          <a:blip r:embed="rId4"/>
          <a:stretch>
            <a:fillRect/>
          </a:stretch>
        </p:blipFill>
        <p:spPr>
          <a:xfrm>
            <a:off x="457200" y="3328416"/>
            <a:ext cx="237744" cy="237744"/>
          </a:xfrm>
          <a:prstGeom prst="rect">
            <a:avLst/>
          </a:prstGeom>
        </p:spPr>
      </p:pic>
      <p:sp>
        <p:nvSpPr>
          <p:cNvPr id="13" name="Text 7"/>
          <p:cNvSpPr/>
          <p:nvPr/>
        </p:nvSpPr>
        <p:spPr>
          <a:xfrm>
            <a:off x="804672" y="3264408"/>
            <a:ext cx="365760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~10% of inverter-days flagged as anomalous</a:t>
            </a:r>
            <a:endParaRPr lang="en-US" sz="1200" dirty="0"/>
          </a:p>
        </p:txBody>
      </p:sp>
      <p:pic>
        <p:nvPicPr>
          <p:cNvPr id="14" name="Image 4" descr="preencoded.png">    </p:cNvPr>
          <p:cNvPicPr>
            <a:picLocks noChangeAspect="1"/>
          </p:cNvPicPr>
          <p:nvPr/>
        </p:nvPicPr>
        <p:blipFill>
          <a:blip r:embed="rId5"/>
          <a:stretch>
            <a:fillRect/>
          </a:stretch>
        </p:blipFill>
        <p:spPr>
          <a:xfrm>
            <a:off x="457200" y="3922776"/>
            <a:ext cx="237744" cy="237744"/>
          </a:xfrm>
          <a:prstGeom prst="rect">
            <a:avLst/>
          </a:prstGeom>
        </p:spPr>
      </p:pic>
      <p:sp>
        <p:nvSpPr>
          <p:cNvPr id="15" name="Text 8"/>
          <p:cNvSpPr/>
          <p:nvPr/>
        </p:nvSpPr>
        <p:spPr>
          <a:xfrm>
            <a:off x="804672" y="3858768"/>
            <a:ext cx="365760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Caught 2 real data recording bugs pre-modelling</a:t>
            </a:r>
            <a:endParaRPr lang="en-US" sz="1200" dirty="0"/>
          </a:p>
        </p:txBody>
      </p:sp>
      <p:sp>
        <p:nvSpPr>
          <p:cNvPr id="16" name="Text 9"/>
          <p:cNvSpPr/>
          <p:nvPr/>
        </p:nvSpPr>
        <p:spPr>
          <a:xfrm>
            <a:off x="4846320" y="1170432"/>
            <a:ext cx="4023360" cy="228600"/>
          </a:xfrm>
          <a:prstGeom prst="rect">
            <a:avLst/>
          </a:prstGeom>
          <a:noFill/>
          <a:ln/>
        </p:spPr>
        <p:txBody>
          <a:bodyPr wrap="square" lIns="0" tIns="0" rIns="0" bIns="0" rtlCol="0" anchor="ctr"/>
          <a:lstStyle/>
          <a:p>
            <a:pPr indent="0" marL="0">
              <a:buNone/>
            </a:pPr>
            <a:r>
              <a:rPr lang="en-US" sz="850" b="1" spc="200" kern="0" dirty="0">
                <a:solidFill>
                  <a:srgbClr val="F4A726"/>
                </a:solidFill>
                <a:latin typeface="Calibri" pitchFamily="34" charset="0"/>
                <a:ea typeface="Calibri" pitchFamily="34" charset="-122"/>
                <a:cs typeface="Calibri" pitchFamily="34" charset="-120"/>
              </a:rPr>
              <a:t>NEW BEYOND COURSE</a:t>
            </a:r>
            <a:endParaRPr lang="en-US" sz="850" dirty="0"/>
          </a:p>
        </p:txBody>
      </p:sp>
      <p:pic>
        <p:nvPicPr>
          <p:cNvPr id="17" name="Image 5" descr="preencoded.png">    </p:cNvPr>
          <p:cNvPicPr>
            <a:picLocks noChangeAspect="1"/>
          </p:cNvPicPr>
          <p:nvPr/>
        </p:nvPicPr>
        <p:blipFill>
          <a:blip r:embed="rId6"/>
          <a:stretch>
            <a:fillRect/>
          </a:stretch>
        </p:blipFill>
        <p:spPr>
          <a:xfrm>
            <a:off x="4846320" y="1517904"/>
            <a:ext cx="237744" cy="237744"/>
          </a:xfrm>
          <a:prstGeom prst="rect">
            <a:avLst/>
          </a:prstGeom>
        </p:spPr>
      </p:pic>
      <p:sp>
        <p:nvSpPr>
          <p:cNvPr id="18" name="Text 10"/>
          <p:cNvSpPr/>
          <p:nvPr/>
        </p:nvSpPr>
        <p:spPr>
          <a:xfrm>
            <a:off x="5193792" y="1481328"/>
            <a:ext cx="3657600" cy="384048"/>
          </a:xfrm>
          <a:prstGeom prst="rect">
            <a:avLst/>
          </a:prstGeom>
          <a:noFill/>
          <a:ln/>
        </p:spPr>
        <p:txBody>
          <a:bodyPr wrap="square" lIns="0" tIns="0" rIns="0" bIns="0" rtlCol="0" anchor="ctr"/>
          <a:lstStyle/>
          <a:p>
            <a:pPr indent="0" marL="0">
              <a:buNone/>
            </a:pPr>
            <a:r>
              <a:rPr lang="en-US" sz="1200" dirty="0">
                <a:solidFill>
                  <a:srgbClr val="C8D8E8"/>
                </a:solidFill>
                <a:latin typeface="Calibri" pitchFamily="34" charset="0"/>
                <a:ea typeface="Calibri" pitchFamily="34" charset="-122"/>
                <a:cs typeface="Calibri" pitchFamily="34" charset="-120"/>
              </a:rPr>
              <a:t>Isolation Forest (anomaly detection)</a:t>
            </a:r>
            <a:endParaRPr lang="en-US" sz="1200" dirty="0"/>
          </a:p>
        </p:txBody>
      </p:sp>
      <p:pic>
        <p:nvPicPr>
          <p:cNvPr id="19" name="Image 6" descr="preencoded.png">    </p:cNvPr>
          <p:cNvPicPr>
            <a:picLocks noChangeAspect="1"/>
          </p:cNvPicPr>
          <p:nvPr/>
        </p:nvPicPr>
        <p:blipFill>
          <a:blip r:embed="rId7"/>
          <a:stretch>
            <a:fillRect/>
          </a:stretch>
        </p:blipFill>
        <p:spPr>
          <a:xfrm>
            <a:off x="4846320" y="2066544"/>
            <a:ext cx="237744" cy="237744"/>
          </a:xfrm>
          <a:prstGeom prst="rect">
            <a:avLst/>
          </a:prstGeom>
        </p:spPr>
      </p:pic>
      <p:sp>
        <p:nvSpPr>
          <p:cNvPr id="20" name="Text 11"/>
          <p:cNvSpPr/>
          <p:nvPr/>
        </p:nvSpPr>
        <p:spPr>
          <a:xfrm>
            <a:off x="5193792" y="2029968"/>
            <a:ext cx="3657600" cy="384048"/>
          </a:xfrm>
          <a:prstGeom prst="rect">
            <a:avLst/>
          </a:prstGeom>
          <a:noFill/>
          <a:ln/>
        </p:spPr>
        <p:txBody>
          <a:bodyPr wrap="square" lIns="0" tIns="0" rIns="0" bIns="0" rtlCol="0" anchor="ctr"/>
          <a:lstStyle/>
          <a:p>
            <a:pPr indent="0" marL="0">
              <a:buNone/>
            </a:pPr>
            <a:r>
              <a:rPr lang="en-US" sz="1200" dirty="0">
                <a:solidFill>
                  <a:srgbClr val="C8D8E8"/>
                </a:solidFill>
                <a:latin typeface="Calibri" pitchFamily="34" charset="0"/>
                <a:ea typeface="Calibri" pitchFamily="34" charset="-122"/>
                <a:cs typeface="Calibri" pitchFamily="34" charset="-120"/>
              </a:rPr>
              <a:t>TimeSeriesSplit cross-validation</a:t>
            </a:r>
            <a:endParaRPr lang="en-US" sz="1200" dirty="0"/>
          </a:p>
        </p:txBody>
      </p:sp>
      <p:pic>
        <p:nvPicPr>
          <p:cNvPr id="21" name="Image 7" descr="preencoded.png">    </p:cNvPr>
          <p:cNvPicPr>
            <a:picLocks noChangeAspect="1"/>
          </p:cNvPicPr>
          <p:nvPr/>
        </p:nvPicPr>
        <p:blipFill>
          <a:blip r:embed="rId8"/>
          <a:stretch>
            <a:fillRect/>
          </a:stretch>
        </p:blipFill>
        <p:spPr>
          <a:xfrm>
            <a:off x="4846320" y="2615184"/>
            <a:ext cx="237744" cy="237744"/>
          </a:xfrm>
          <a:prstGeom prst="rect">
            <a:avLst/>
          </a:prstGeom>
        </p:spPr>
      </p:pic>
      <p:sp>
        <p:nvSpPr>
          <p:cNvPr id="22" name="Text 12"/>
          <p:cNvSpPr/>
          <p:nvPr/>
        </p:nvSpPr>
        <p:spPr>
          <a:xfrm>
            <a:off x="5193792" y="2578608"/>
            <a:ext cx="3657600" cy="384048"/>
          </a:xfrm>
          <a:prstGeom prst="rect">
            <a:avLst/>
          </a:prstGeom>
          <a:noFill/>
          <a:ln/>
        </p:spPr>
        <p:txBody>
          <a:bodyPr wrap="square" lIns="0" tIns="0" rIns="0" bIns="0" rtlCol="0" anchor="ctr"/>
          <a:lstStyle/>
          <a:p>
            <a:pPr indent="0" marL="0">
              <a:buNone/>
            </a:pPr>
            <a:r>
              <a:rPr lang="en-US" sz="1200" dirty="0">
                <a:solidFill>
                  <a:srgbClr val="C8D8E8"/>
                </a:solidFill>
                <a:latin typeface="Calibri" pitchFamily="34" charset="0"/>
                <a:ea typeface="Calibri" pitchFamily="34" charset="-122"/>
                <a:cs typeface="Calibri" pitchFamily="34" charset="-120"/>
              </a:rPr>
              <a:t>RandomizedSearchCV hyperparameter tuning</a:t>
            </a:r>
            <a:endParaRPr lang="en-US" sz="1200" dirty="0"/>
          </a:p>
        </p:txBody>
      </p:sp>
      <p:pic>
        <p:nvPicPr>
          <p:cNvPr id="23" name="Image 8" descr="preencoded.png">    </p:cNvPr>
          <p:cNvPicPr>
            <a:picLocks noChangeAspect="1"/>
          </p:cNvPicPr>
          <p:nvPr/>
        </p:nvPicPr>
        <p:blipFill>
          <a:blip r:embed="rId9"/>
          <a:stretch>
            <a:fillRect/>
          </a:stretch>
        </p:blipFill>
        <p:spPr>
          <a:xfrm>
            <a:off x="4846320" y="3163824"/>
            <a:ext cx="237744" cy="237744"/>
          </a:xfrm>
          <a:prstGeom prst="rect">
            <a:avLst/>
          </a:prstGeom>
        </p:spPr>
      </p:pic>
      <p:sp>
        <p:nvSpPr>
          <p:cNvPr id="24" name="Text 13"/>
          <p:cNvSpPr/>
          <p:nvPr/>
        </p:nvSpPr>
        <p:spPr>
          <a:xfrm>
            <a:off x="5193792" y="3127248"/>
            <a:ext cx="3657600" cy="384048"/>
          </a:xfrm>
          <a:prstGeom prst="rect">
            <a:avLst/>
          </a:prstGeom>
          <a:noFill/>
          <a:ln/>
        </p:spPr>
        <p:txBody>
          <a:bodyPr wrap="square" lIns="0" tIns="0" rIns="0" bIns="0" rtlCol="0" anchor="ctr"/>
          <a:lstStyle/>
          <a:p>
            <a:pPr indent="0" marL="0">
              <a:buNone/>
            </a:pPr>
            <a:r>
              <a:rPr lang="en-US" sz="1200" dirty="0">
                <a:solidFill>
                  <a:srgbClr val="C8D8E8"/>
                </a:solidFill>
                <a:latin typeface="Calibri" pitchFamily="34" charset="0"/>
                <a:ea typeface="Calibri" pitchFamily="34" charset="-122"/>
                <a:cs typeface="Calibri" pitchFamily="34" charset="-120"/>
              </a:rPr>
              <a:t>SHAP value explainability</a:t>
            </a:r>
            <a:endParaRPr lang="en-US" sz="1200" dirty="0"/>
          </a:p>
        </p:txBody>
      </p:sp>
      <p:pic>
        <p:nvPicPr>
          <p:cNvPr id="25" name="Image 9" descr="preencoded.png">    </p:cNvPr>
          <p:cNvPicPr>
            <a:picLocks noChangeAspect="1"/>
          </p:cNvPicPr>
          <p:nvPr/>
        </p:nvPicPr>
        <p:blipFill>
          <a:blip r:embed="rId10"/>
          <a:stretch>
            <a:fillRect/>
          </a:stretch>
        </p:blipFill>
        <p:spPr>
          <a:xfrm>
            <a:off x="4846320" y="3712464"/>
            <a:ext cx="237744" cy="237744"/>
          </a:xfrm>
          <a:prstGeom prst="rect">
            <a:avLst/>
          </a:prstGeom>
        </p:spPr>
      </p:pic>
      <p:sp>
        <p:nvSpPr>
          <p:cNvPr id="26" name="Text 14"/>
          <p:cNvSpPr/>
          <p:nvPr/>
        </p:nvSpPr>
        <p:spPr>
          <a:xfrm>
            <a:off x="5193792" y="3675888"/>
            <a:ext cx="3657600" cy="384048"/>
          </a:xfrm>
          <a:prstGeom prst="rect">
            <a:avLst/>
          </a:prstGeom>
          <a:noFill/>
          <a:ln/>
        </p:spPr>
        <p:txBody>
          <a:bodyPr wrap="square" lIns="0" tIns="0" rIns="0" bIns="0" rtlCol="0" anchor="ctr"/>
          <a:lstStyle/>
          <a:p>
            <a:pPr indent="0" marL="0">
              <a:buNone/>
            </a:pPr>
            <a:r>
              <a:rPr lang="en-US" sz="1200" dirty="0">
                <a:solidFill>
                  <a:srgbClr val="C8D8E8"/>
                </a:solidFill>
                <a:latin typeface="Calibri" pitchFamily="34" charset="0"/>
                <a:ea typeface="Calibri" pitchFamily="34" charset="-122"/>
                <a:cs typeface="Calibri" pitchFamily="34" charset="-120"/>
              </a:rPr>
              <a:t>merge_asof for time-series joining</a:t>
            </a:r>
            <a:endParaRPr lang="en-US" sz="1200" dirty="0"/>
          </a:p>
        </p:txBody>
      </p:sp>
      <p:pic>
        <p:nvPicPr>
          <p:cNvPr id="27" name="Image 10" descr="preencoded.png">    </p:cNvPr>
          <p:cNvPicPr>
            <a:picLocks noChangeAspect="1"/>
          </p:cNvPicPr>
          <p:nvPr/>
        </p:nvPicPr>
        <p:blipFill>
          <a:blip r:embed="rId11"/>
          <a:stretch>
            <a:fillRect/>
          </a:stretch>
        </p:blipFill>
        <p:spPr>
          <a:xfrm>
            <a:off x="4846320" y="4261104"/>
            <a:ext cx="237744" cy="237744"/>
          </a:xfrm>
          <a:prstGeom prst="rect">
            <a:avLst/>
          </a:prstGeom>
        </p:spPr>
      </p:pic>
      <p:sp>
        <p:nvSpPr>
          <p:cNvPr id="28" name="Text 15"/>
          <p:cNvSpPr/>
          <p:nvPr/>
        </p:nvSpPr>
        <p:spPr>
          <a:xfrm>
            <a:off x="5193792" y="4224528"/>
            <a:ext cx="3657600" cy="384048"/>
          </a:xfrm>
          <a:prstGeom prst="rect">
            <a:avLst/>
          </a:prstGeom>
          <a:noFill/>
          <a:ln/>
        </p:spPr>
        <p:txBody>
          <a:bodyPr wrap="square" lIns="0" tIns="0" rIns="0" bIns="0" rtlCol="0" anchor="ctr"/>
          <a:lstStyle/>
          <a:p>
            <a:pPr indent="0" marL="0">
              <a:buNone/>
            </a:pPr>
            <a:r>
              <a:rPr lang="en-US" sz="1200" dirty="0">
                <a:solidFill>
                  <a:srgbClr val="C8D8E8"/>
                </a:solidFill>
                <a:latin typeface="Calibri" pitchFamily="34" charset="0"/>
                <a:ea typeface="Calibri" pitchFamily="34" charset="-122"/>
                <a:cs typeface="Calibri" pitchFamily="34" charset="-120"/>
              </a:rPr>
              <a:t>Performance ratio KPI  (IEC 61724)</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164592"/>
            <a:ext cx="8229600" cy="201168"/>
          </a:xfrm>
          <a:prstGeom prst="rect">
            <a:avLst/>
          </a:prstGeom>
          <a:noFill/>
          <a:ln/>
        </p:spPr>
        <p:txBody>
          <a:bodyPr wrap="square" lIns="0" tIns="0" rIns="0" bIns="0" rtlCol="0" anchor="ctr"/>
          <a:lstStyle/>
          <a:p>
            <a:pPr algn="l" indent="0" marL="0">
              <a:buNone/>
            </a:pPr>
            <a:r>
              <a:rPr lang="en-US" sz="850" b="1" spc="300" kern="0" dirty="0">
                <a:solidFill>
                  <a:srgbClr val="F4A726"/>
                </a:solidFill>
                <a:latin typeface="Calibri" pitchFamily="34" charset="0"/>
                <a:ea typeface="Calibri" pitchFamily="34" charset="-122"/>
                <a:cs typeface="Calibri" pitchFamily="34" charset="-120"/>
              </a:rPr>
              <a:t>TEAM</a:t>
            </a:r>
            <a:endParaRPr lang="en-US" sz="850" dirty="0"/>
          </a:p>
        </p:txBody>
      </p:sp>
      <p:sp>
        <p:nvSpPr>
          <p:cNvPr id="3" name="Text 1"/>
          <p:cNvSpPr/>
          <p:nvPr/>
        </p:nvSpPr>
        <p:spPr>
          <a:xfrm>
            <a:off x="457200" y="384048"/>
            <a:ext cx="8229600" cy="594360"/>
          </a:xfrm>
          <a:prstGeom prst="rect">
            <a:avLst/>
          </a:prstGeom>
          <a:noFill/>
          <a:ln/>
        </p:spPr>
        <p:txBody>
          <a:bodyPr wrap="square" lIns="0" tIns="0" rIns="0" bIns="0" rtlCol="0" anchor="ctr"/>
          <a:lstStyle/>
          <a:p>
            <a:pPr algn="l" indent="0" marL="0">
              <a:buNone/>
            </a:pPr>
            <a:r>
              <a:rPr lang="en-US" sz="3000" b="1" dirty="0">
                <a:solidFill>
                  <a:srgbClr val="1B2B3B"/>
                </a:solidFill>
                <a:latin typeface="Calibri" pitchFamily="34" charset="0"/>
                <a:ea typeface="Calibri" pitchFamily="34" charset="-122"/>
                <a:cs typeface="Calibri" pitchFamily="34" charset="-120"/>
              </a:rPr>
              <a:t>Who Did What</a:t>
            </a:r>
            <a:endParaRPr lang="en-US" sz="3000" dirty="0"/>
          </a:p>
        </p:txBody>
      </p:sp>
      <p:pic>
        <p:nvPicPr>
          <p:cNvPr id="4" name="Image 0" descr="preencoded.png">    </p:cNvPr>
          <p:cNvPicPr>
            <a:picLocks noChangeAspect="1"/>
          </p:cNvPicPr>
          <p:nvPr/>
        </p:nvPicPr>
        <p:blipFill>
          <a:blip r:embed="rId1"/>
          <a:stretch>
            <a:fillRect/>
          </a:stretch>
        </p:blipFill>
        <p:spPr>
          <a:xfrm>
            <a:off x="8001000" y="347472"/>
            <a:ext cx="777240" cy="777240"/>
          </a:xfrm>
          <a:prstGeom prst="rect">
            <a:avLst/>
          </a:prstGeom>
        </p:spPr>
      </p:pic>
      <p:sp>
        <p:nvSpPr>
          <p:cNvPr id="5" name="Shape 2"/>
          <p:cNvSpPr/>
          <p:nvPr/>
        </p:nvSpPr>
        <p:spPr>
          <a:xfrm>
            <a:off x="457200" y="1051560"/>
            <a:ext cx="8229600" cy="548640"/>
          </a:xfrm>
          <a:prstGeom prst="rect">
            <a:avLst/>
          </a:prstGeom>
          <a:solidFill>
            <a:srgbClr val="FFFFFF"/>
          </a:solidFill>
          <a:ln w="6350">
            <a:solidFill>
              <a:srgbClr val="DDE3EC"/>
            </a:solidFill>
            <a:prstDash val="solid"/>
          </a:ln>
          <a:effectLst>
            <a:outerShdw sx="100000" sy="100000" kx="0" ky="0" algn="bl" rotWithShape="0" blurRad="101600" dist="25400" dir="8100000">
              <a:srgbClr val="000000">
                <a:alpha val="5000"/>
              </a:srgbClr>
            </a:outerShdw>
          </a:effectLst>
        </p:spPr>
      </p:sp>
      <p:sp>
        <p:nvSpPr>
          <p:cNvPr id="6" name="Shape 3"/>
          <p:cNvSpPr/>
          <p:nvPr/>
        </p:nvSpPr>
        <p:spPr>
          <a:xfrm>
            <a:off x="457200" y="1051560"/>
            <a:ext cx="1554480" cy="548640"/>
          </a:xfrm>
          <a:prstGeom prst="rect">
            <a:avLst/>
          </a:prstGeom>
          <a:solidFill>
            <a:srgbClr val="0D7C8F"/>
          </a:solidFill>
          <a:ln w="12700">
            <a:solidFill>
              <a:srgbClr val="0D7C8F"/>
            </a:solidFill>
            <a:prstDash val="solid"/>
          </a:ln>
        </p:spPr>
      </p:sp>
      <p:sp>
        <p:nvSpPr>
          <p:cNvPr id="7" name="Text 4"/>
          <p:cNvSpPr/>
          <p:nvPr/>
        </p:nvSpPr>
        <p:spPr>
          <a:xfrm>
            <a:off x="457200" y="1051560"/>
            <a:ext cx="15544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Member A</a:t>
            </a:r>
            <a:endParaRPr lang="en-US" sz="1200" dirty="0"/>
          </a:p>
        </p:txBody>
      </p:sp>
      <p:sp>
        <p:nvSpPr>
          <p:cNvPr id="8" name="Text 5"/>
          <p:cNvSpPr/>
          <p:nvPr/>
        </p:nvSpPr>
        <p:spPr>
          <a:xfrm>
            <a:off x="2148840" y="1161288"/>
            <a:ext cx="6355080" cy="411480"/>
          </a:xfrm>
          <a:prstGeom prst="rect">
            <a:avLst/>
          </a:prstGeom>
          <a:noFill/>
          <a:ln/>
        </p:spPr>
        <p:txBody>
          <a:bodyPr wrap="square" lIns="0" tIns="0" rIns="0" bIns="0" rtlCol="0" anchor="ctr"/>
          <a:lstStyle/>
          <a:p>
            <a:pPr indent="0" marL="0">
              <a:buNone/>
            </a:pPr>
            <a:r>
              <a:rPr lang="en-US" sz="1150" dirty="0">
                <a:solidFill>
                  <a:srgbClr val="1E2D3D"/>
                </a:solidFill>
                <a:latin typeface="Calibri" pitchFamily="34" charset="0"/>
                <a:ea typeface="Calibri" pitchFamily="34" charset="-122"/>
                <a:cs typeface="Calibri" pitchFamily="34" charset="-120"/>
              </a:rPr>
              <a:t>Data loading, datetime parsing, weather resampling, merge_asof pipeline</a:t>
            </a:r>
            <a:endParaRPr lang="en-US" sz="1150" dirty="0"/>
          </a:p>
        </p:txBody>
      </p:sp>
      <p:sp>
        <p:nvSpPr>
          <p:cNvPr id="9" name="Shape 6"/>
          <p:cNvSpPr/>
          <p:nvPr/>
        </p:nvSpPr>
        <p:spPr>
          <a:xfrm>
            <a:off x="457200" y="1636776"/>
            <a:ext cx="8229600" cy="548640"/>
          </a:xfrm>
          <a:prstGeom prst="rect">
            <a:avLst/>
          </a:prstGeom>
          <a:solidFill>
            <a:srgbClr val="FFFFFF"/>
          </a:solidFill>
          <a:ln w="6350">
            <a:solidFill>
              <a:srgbClr val="DDE3EC"/>
            </a:solidFill>
            <a:prstDash val="solid"/>
          </a:ln>
          <a:effectLst>
            <a:outerShdw sx="100000" sy="100000" kx="0" ky="0" algn="bl" rotWithShape="0" blurRad="101600" dist="25400" dir="8100000">
              <a:srgbClr val="000000">
                <a:alpha val="5000"/>
              </a:srgbClr>
            </a:outerShdw>
          </a:effectLst>
        </p:spPr>
      </p:sp>
      <p:sp>
        <p:nvSpPr>
          <p:cNvPr id="10" name="Shape 7"/>
          <p:cNvSpPr/>
          <p:nvPr/>
        </p:nvSpPr>
        <p:spPr>
          <a:xfrm>
            <a:off x="457200" y="1636776"/>
            <a:ext cx="1554480" cy="548640"/>
          </a:xfrm>
          <a:prstGeom prst="rect">
            <a:avLst/>
          </a:prstGeom>
          <a:solidFill>
            <a:srgbClr val="D94040"/>
          </a:solidFill>
          <a:ln w="12700">
            <a:solidFill>
              <a:srgbClr val="D94040"/>
            </a:solidFill>
            <a:prstDash val="solid"/>
          </a:ln>
        </p:spPr>
      </p:sp>
      <p:sp>
        <p:nvSpPr>
          <p:cNvPr id="11" name="Text 8"/>
          <p:cNvSpPr/>
          <p:nvPr/>
        </p:nvSpPr>
        <p:spPr>
          <a:xfrm>
            <a:off x="457200" y="1636776"/>
            <a:ext cx="15544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Member B</a:t>
            </a:r>
            <a:endParaRPr lang="en-US" sz="1200" dirty="0"/>
          </a:p>
        </p:txBody>
      </p:sp>
      <p:sp>
        <p:nvSpPr>
          <p:cNvPr id="12" name="Text 9"/>
          <p:cNvSpPr/>
          <p:nvPr/>
        </p:nvSpPr>
        <p:spPr>
          <a:xfrm>
            <a:off x="2148840" y="1746504"/>
            <a:ext cx="6355080" cy="411480"/>
          </a:xfrm>
          <a:prstGeom prst="rect">
            <a:avLst/>
          </a:prstGeom>
          <a:noFill/>
          <a:ln/>
        </p:spPr>
        <p:txBody>
          <a:bodyPr wrap="square" lIns="0" tIns="0" rIns="0" bIns="0" rtlCol="0" anchor="ctr"/>
          <a:lstStyle/>
          <a:p>
            <a:pPr indent="0" marL="0">
              <a:buNone/>
            </a:pPr>
            <a:r>
              <a:rPr lang="en-US" sz="1150" dirty="0">
                <a:solidFill>
                  <a:srgbClr val="1E2D3D"/>
                </a:solidFill>
                <a:latin typeface="Calibri" pitchFamily="34" charset="0"/>
                <a:ea typeface="Calibri" pitchFamily="34" charset="-122"/>
                <a:cs typeface="Calibri" pitchFamily="34" charset="-120"/>
              </a:rPr>
              <a:t>Data quality investigation — unit mismatch detection, counter overflow fix</a:t>
            </a:r>
            <a:endParaRPr lang="en-US" sz="1150" dirty="0"/>
          </a:p>
        </p:txBody>
      </p:sp>
      <p:sp>
        <p:nvSpPr>
          <p:cNvPr id="13" name="Shape 10"/>
          <p:cNvSpPr/>
          <p:nvPr/>
        </p:nvSpPr>
        <p:spPr>
          <a:xfrm>
            <a:off x="457200" y="2221992"/>
            <a:ext cx="8229600" cy="548640"/>
          </a:xfrm>
          <a:prstGeom prst="rect">
            <a:avLst/>
          </a:prstGeom>
          <a:solidFill>
            <a:srgbClr val="FFFFFF"/>
          </a:solidFill>
          <a:ln w="6350">
            <a:solidFill>
              <a:srgbClr val="DDE3EC"/>
            </a:solidFill>
            <a:prstDash val="solid"/>
          </a:ln>
          <a:effectLst>
            <a:outerShdw sx="100000" sy="100000" kx="0" ky="0" algn="bl" rotWithShape="0" blurRad="101600" dist="25400" dir="8100000">
              <a:srgbClr val="000000">
                <a:alpha val="5000"/>
              </a:srgbClr>
            </a:outerShdw>
          </a:effectLst>
        </p:spPr>
      </p:sp>
      <p:sp>
        <p:nvSpPr>
          <p:cNvPr id="14" name="Shape 11"/>
          <p:cNvSpPr/>
          <p:nvPr/>
        </p:nvSpPr>
        <p:spPr>
          <a:xfrm>
            <a:off x="457200" y="2221992"/>
            <a:ext cx="1554480" cy="548640"/>
          </a:xfrm>
          <a:prstGeom prst="rect">
            <a:avLst/>
          </a:prstGeom>
          <a:solidFill>
            <a:srgbClr val="F4A726"/>
          </a:solidFill>
          <a:ln w="12700">
            <a:solidFill>
              <a:srgbClr val="F4A726"/>
            </a:solidFill>
            <a:prstDash val="solid"/>
          </a:ln>
        </p:spPr>
      </p:sp>
      <p:sp>
        <p:nvSpPr>
          <p:cNvPr id="15" name="Text 12"/>
          <p:cNvSpPr/>
          <p:nvPr/>
        </p:nvSpPr>
        <p:spPr>
          <a:xfrm>
            <a:off x="457200" y="2221992"/>
            <a:ext cx="15544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Member C</a:t>
            </a:r>
            <a:endParaRPr lang="en-US" sz="1200" dirty="0"/>
          </a:p>
        </p:txBody>
      </p:sp>
      <p:sp>
        <p:nvSpPr>
          <p:cNvPr id="16" name="Text 13"/>
          <p:cNvSpPr/>
          <p:nvPr/>
        </p:nvSpPr>
        <p:spPr>
          <a:xfrm>
            <a:off x="2148840" y="2331720"/>
            <a:ext cx="6355080" cy="411480"/>
          </a:xfrm>
          <a:prstGeom prst="rect">
            <a:avLst/>
          </a:prstGeom>
          <a:noFill/>
          <a:ln/>
        </p:spPr>
        <p:txBody>
          <a:bodyPr wrap="square" lIns="0" tIns="0" rIns="0" bIns="0" rtlCol="0" anchor="ctr"/>
          <a:lstStyle/>
          <a:p>
            <a:pPr indent="0" marL="0">
              <a:buNone/>
            </a:pPr>
            <a:r>
              <a:rPr lang="en-US" sz="1150" dirty="0">
                <a:solidFill>
                  <a:srgbClr val="1E2D3D"/>
                </a:solidFill>
                <a:latin typeface="Calibri" pitchFamily="34" charset="0"/>
                <a:ea typeface="Calibri" pitchFamily="34" charset="-122"/>
                <a:cs typeface="Calibri" pitchFamily="34" charset="-120"/>
              </a:rPr>
              <a:t>EDA — visualisations, heatmaps, correlation analysis, inverter boxplots</a:t>
            </a:r>
            <a:endParaRPr lang="en-US" sz="1150" dirty="0"/>
          </a:p>
        </p:txBody>
      </p:sp>
      <p:sp>
        <p:nvSpPr>
          <p:cNvPr id="17" name="Shape 14"/>
          <p:cNvSpPr/>
          <p:nvPr/>
        </p:nvSpPr>
        <p:spPr>
          <a:xfrm>
            <a:off x="457200" y="2807208"/>
            <a:ext cx="8229600" cy="548640"/>
          </a:xfrm>
          <a:prstGeom prst="rect">
            <a:avLst/>
          </a:prstGeom>
          <a:solidFill>
            <a:srgbClr val="FFFFFF"/>
          </a:solidFill>
          <a:ln w="6350">
            <a:solidFill>
              <a:srgbClr val="DDE3EC"/>
            </a:solidFill>
            <a:prstDash val="solid"/>
          </a:ln>
          <a:effectLst>
            <a:outerShdw sx="100000" sy="100000" kx="0" ky="0" algn="bl" rotWithShape="0" blurRad="101600" dist="25400" dir="8100000">
              <a:srgbClr val="000000">
                <a:alpha val="5000"/>
              </a:srgbClr>
            </a:outerShdw>
          </a:effectLst>
        </p:spPr>
      </p:sp>
      <p:sp>
        <p:nvSpPr>
          <p:cNvPr id="18" name="Shape 15"/>
          <p:cNvSpPr/>
          <p:nvPr/>
        </p:nvSpPr>
        <p:spPr>
          <a:xfrm>
            <a:off x="457200" y="2807208"/>
            <a:ext cx="1554480" cy="548640"/>
          </a:xfrm>
          <a:prstGeom prst="rect">
            <a:avLst/>
          </a:prstGeom>
          <a:solidFill>
            <a:srgbClr val="1B2B3B"/>
          </a:solidFill>
          <a:ln w="12700">
            <a:solidFill>
              <a:srgbClr val="1B2B3B"/>
            </a:solidFill>
            <a:prstDash val="solid"/>
          </a:ln>
        </p:spPr>
      </p:sp>
      <p:sp>
        <p:nvSpPr>
          <p:cNvPr id="19" name="Text 16"/>
          <p:cNvSpPr/>
          <p:nvPr/>
        </p:nvSpPr>
        <p:spPr>
          <a:xfrm>
            <a:off x="457200" y="2807208"/>
            <a:ext cx="15544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Member D</a:t>
            </a:r>
            <a:endParaRPr lang="en-US" sz="1200" dirty="0"/>
          </a:p>
        </p:txBody>
      </p:sp>
      <p:sp>
        <p:nvSpPr>
          <p:cNvPr id="20" name="Text 17"/>
          <p:cNvSpPr/>
          <p:nvPr/>
        </p:nvSpPr>
        <p:spPr>
          <a:xfrm>
            <a:off x="2148840" y="2916936"/>
            <a:ext cx="6355080" cy="411480"/>
          </a:xfrm>
          <a:prstGeom prst="rect">
            <a:avLst/>
          </a:prstGeom>
          <a:noFill/>
          <a:ln/>
        </p:spPr>
        <p:txBody>
          <a:bodyPr wrap="square" lIns="0" tIns="0" rIns="0" bIns="0" rtlCol="0" anchor="ctr"/>
          <a:lstStyle/>
          <a:p>
            <a:pPr indent="0" marL="0">
              <a:buNone/>
            </a:pPr>
            <a:r>
              <a:rPr lang="en-US" sz="1150" dirty="0">
                <a:solidFill>
                  <a:srgbClr val="1E2D3D"/>
                </a:solidFill>
                <a:latin typeface="Calibri" pitchFamily="34" charset="0"/>
                <a:ea typeface="Calibri" pitchFamily="34" charset="-122"/>
                <a:cs typeface="Calibri" pitchFamily="34" charset="-120"/>
              </a:rPr>
              <a:t>Regression models, TimeSeriesSplit CV, RandomizedSearchCV tuning</a:t>
            </a:r>
            <a:endParaRPr lang="en-US" sz="1150" dirty="0"/>
          </a:p>
        </p:txBody>
      </p:sp>
      <p:sp>
        <p:nvSpPr>
          <p:cNvPr id="21" name="Shape 18"/>
          <p:cNvSpPr/>
          <p:nvPr/>
        </p:nvSpPr>
        <p:spPr>
          <a:xfrm>
            <a:off x="457200" y="3392424"/>
            <a:ext cx="8229600" cy="548640"/>
          </a:xfrm>
          <a:prstGeom prst="rect">
            <a:avLst/>
          </a:prstGeom>
          <a:solidFill>
            <a:srgbClr val="FFFFFF"/>
          </a:solidFill>
          <a:ln w="6350">
            <a:solidFill>
              <a:srgbClr val="DDE3EC"/>
            </a:solidFill>
            <a:prstDash val="solid"/>
          </a:ln>
          <a:effectLst>
            <a:outerShdw sx="100000" sy="100000" kx="0" ky="0" algn="bl" rotWithShape="0" blurRad="101600" dist="25400" dir="8100000">
              <a:srgbClr val="000000">
                <a:alpha val="5000"/>
              </a:srgbClr>
            </a:outerShdw>
          </a:effectLst>
        </p:spPr>
      </p:sp>
      <p:sp>
        <p:nvSpPr>
          <p:cNvPr id="22" name="Shape 19"/>
          <p:cNvSpPr/>
          <p:nvPr/>
        </p:nvSpPr>
        <p:spPr>
          <a:xfrm>
            <a:off x="457200" y="3392424"/>
            <a:ext cx="1554480" cy="548640"/>
          </a:xfrm>
          <a:prstGeom prst="rect">
            <a:avLst/>
          </a:prstGeom>
          <a:solidFill>
            <a:srgbClr val="5B4FCF"/>
          </a:solidFill>
          <a:ln w="12700">
            <a:solidFill>
              <a:srgbClr val="5B4FCF"/>
            </a:solidFill>
            <a:prstDash val="solid"/>
          </a:ln>
        </p:spPr>
      </p:sp>
      <p:sp>
        <p:nvSpPr>
          <p:cNvPr id="23" name="Text 20"/>
          <p:cNvSpPr/>
          <p:nvPr/>
        </p:nvSpPr>
        <p:spPr>
          <a:xfrm>
            <a:off x="457200" y="3392424"/>
            <a:ext cx="15544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Member E</a:t>
            </a:r>
            <a:endParaRPr lang="en-US" sz="1200" dirty="0"/>
          </a:p>
        </p:txBody>
      </p:sp>
      <p:sp>
        <p:nvSpPr>
          <p:cNvPr id="24" name="Text 21"/>
          <p:cNvSpPr/>
          <p:nvPr/>
        </p:nvSpPr>
        <p:spPr>
          <a:xfrm>
            <a:off x="2148840" y="3502152"/>
            <a:ext cx="6355080" cy="411480"/>
          </a:xfrm>
          <a:prstGeom prst="rect">
            <a:avLst/>
          </a:prstGeom>
          <a:noFill/>
          <a:ln/>
        </p:spPr>
        <p:txBody>
          <a:bodyPr wrap="square" lIns="0" tIns="0" rIns="0" bIns="0" rtlCol="0" anchor="ctr"/>
          <a:lstStyle/>
          <a:p>
            <a:pPr indent="0" marL="0">
              <a:buNone/>
            </a:pPr>
            <a:r>
              <a:rPr lang="en-US" sz="1150" dirty="0">
                <a:solidFill>
                  <a:srgbClr val="1E2D3D"/>
                </a:solidFill>
                <a:latin typeface="Calibri" pitchFamily="34" charset="0"/>
                <a:ea typeface="Calibri" pitchFamily="34" charset="-122"/>
                <a:cs typeface="Calibri" pitchFamily="34" charset="-120"/>
              </a:rPr>
              <a:t>SHAP value explainability, feature importance, cross-plant evaluation</a:t>
            </a:r>
            <a:endParaRPr lang="en-US" sz="1150" dirty="0"/>
          </a:p>
        </p:txBody>
      </p:sp>
      <p:sp>
        <p:nvSpPr>
          <p:cNvPr id="25" name="Shape 22"/>
          <p:cNvSpPr/>
          <p:nvPr/>
        </p:nvSpPr>
        <p:spPr>
          <a:xfrm>
            <a:off x="457200" y="3977640"/>
            <a:ext cx="8229600" cy="548640"/>
          </a:xfrm>
          <a:prstGeom prst="rect">
            <a:avLst/>
          </a:prstGeom>
          <a:solidFill>
            <a:srgbClr val="FFFFFF"/>
          </a:solidFill>
          <a:ln w="6350">
            <a:solidFill>
              <a:srgbClr val="DDE3EC"/>
            </a:solidFill>
            <a:prstDash val="solid"/>
          </a:ln>
          <a:effectLst>
            <a:outerShdw sx="100000" sy="100000" kx="0" ky="0" algn="bl" rotWithShape="0" blurRad="101600" dist="25400" dir="8100000">
              <a:srgbClr val="000000">
                <a:alpha val="5000"/>
              </a:srgbClr>
            </a:outerShdw>
          </a:effectLst>
        </p:spPr>
      </p:sp>
      <p:sp>
        <p:nvSpPr>
          <p:cNvPr id="26" name="Shape 23"/>
          <p:cNvSpPr/>
          <p:nvPr/>
        </p:nvSpPr>
        <p:spPr>
          <a:xfrm>
            <a:off x="457200" y="3977640"/>
            <a:ext cx="1554480" cy="548640"/>
          </a:xfrm>
          <a:prstGeom prst="rect">
            <a:avLst/>
          </a:prstGeom>
          <a:solidFill>
            <a:srgbClr val="1D9E75"/>
          </a:solidFill>
          <a:ln w="12700">
            <a:solidFill>
              <a:srgbClr val="1D9E75"/>
            </a:solidFill>
            <a:prstDash val="solid"/>
          </a:ln>
        </p:spPr>
      </p:sp>
      <p:sp>
        <p:nvSpPr>
          <p:cNvPr id="27" name="Text 24"/>
          <p:cNvSpPr/>
          <p:nvPr/>
        </p:nvSpPr>
        <p:spPr>
          <a:xfrm>
            <a:off x="457200" y="3977640"/>
            <a:ext cx="15544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Member F</a:t>
            </a:r>
            <a:endParaRPr lang="en-US" sz="1200" dirty="0"/>
          </a:p>
        </p:txBody>
      </p:sp>
      <p:sp>
        <p:nvSpPr>
          <p:cNvPr id="28" name="Text 25"/>
          <p:cNvSpPr/>
          <p:nvPr/>
        </p:nvSpPr>
        <p:spPr>
          <a:xfrm>
            <a:off x="2148840" y="4087368"/>
            <a:ext cx="6355080" cy="411480"/>
          </a:xfrm>
          <a:prstGeom prst="rect">
            <a:avLst/>
          </a:prstGeom>
          <a:noFill/>
          <a:ln/>
        </p:spPr>
        <p:txBody>
          <a:bodyPr wrap="square" lIns="0" tIns="0" rIns="0" bIns="0" rtlCol="0" anchor="ctr"/>
          <a:lstStyle/>
          <a:p>
            <a:pPr indent="0" marL="0">
              <a:buNone/>
            </a:pPr>
            <a:r>
              <a:rPr lang="en-US" sz="1150" dirty="0">
                <a:solidFill>
                  <a:srgbClr val="1E2D3D"/>
                </a:solidFill>
                <a:latin typeface="Calibri" pitchFamily="34" charset="0"/>
                <a:ea typeface="Calibri" pitchFamily="34" charset="-122"/>
                <a:cs typeface="Calibri" pitchFamily="34" charset="-120"/>
              </a:rPr>
              <a:t>Anomaly detection pipeline, Isolation Forest, inverter ranking</a:t>
            </a:r>
            <a:endParaRPr lang="en-US" sz="1150" dirty="0"/>
          </a:p>
        </p:txBody>
      </p:sp>
      <p:sp>
        <p:nvSpPr>
          <p:cNvPr id="29" name="Text 26"/>
          <p:cNvSpPr/>
          <p:nvPr/>
        </p:nvSpPr>
        <p:spPr>
          <a:xfrm>
            <a:off x="457200" y="4828032"/>
            <a:ext cx="8229600" cy="228600"/>
          </a:xfrm>
          <a:prstGeom prst="rect">
            <a:avLst/>
          </a:prstGeom>
          <a:noFill/>
          <a:ln/>
        </p:spPr>
        <p:txBody>
          <a:bodyPr wrap="square" lIns="0" tIns="0" rIns="0" bIns="0" rtlCol="0" anchor="ctr"/>
          <a:lstStyle/>
          <a:p>
            <a:pPr algn="ctr" indent="0" marL="0">
              <a:buNone/>
            </a:pPr>
            <a:r>
              <a:rPr lang="en-US" sz="1150" b="1" dirty="0">
                <a:solidFill>
                  <a:srgbClr val="64748B"/>
                </a:solidFill>
                <a:latin typeface="Calibri" pitchFamily="34" charset="0"/>
                <a:ea typeface="Calibri" pitchFamily="34" charset="-122"/>
                <a:cs typeface="Calibri" pitchFamily="34" charset="-120"/>
              </a:rPr>
              <a:t>Thank you  ·  Any questions?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Solar Power Plant – DS Mini-Project</dc:title>
  <dc:subject>PptxGenJS Presentation</dc:subject>
  <dc:creator>PptxGenJS</dc:creator>
  <cp:lastModifiedBy>PptxGenJS</cp:lastModifiedBy>
  <cp:revision>1</cp:revision>
  <dcterms:created xsi:type="dcterms:W3CDTF">2026-03-19T05:44:01Z</dcterms:created>
  <dcterms:modified xsi:type="dcterms:W3CDTF">2026-03-19T05:44:01Z</dcterms:modified>
</cp:coreProperties>
</file>